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Poppins Medium" charset="1" panose="00000600000000000000"/>
      <p:regular r:id="rId18"/>
    </p:embeddedFont>
    <p:embeddedFont>
      <p:font typeface="Poppins Bold" charset="1" panose="00000800000000000000"/>
      <p:regular r:id="rId19"/>
    </p:embeddedFont>
    <p:embeddedFont>
      <p:font typeface="Canva Sans Bold" charset="1" panose="020B0803030501040103"/>
      <p:regular r:id="rId20"/>
    </p:embeddedFont>
    <p:embeddedFont>
      <p:font typeface="Poppin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0981" y="7817285"/>
            <a:ext cx="5966923" cy="1562249"/>
          </a:xfrm>
          <a:custGeom>
            <a:avLst/>
            <a:gdLst/>
            <a:ahLst/>
            <a:cxnLst/>
            <a:rect r="r" b="b" t="t" l="l"/>
            <a:pathLst>
              <a:path h="1562249" w="5966923">
                <a:moveTo>
                  <a:pt x="0" y="0"/>
                </a:moveTo>
                <a:lnTo>
                  <a:pt x="5966923" y="0"/>
                </a:lnTo>
                <a:lnTo>
                  <a:pt x="5966923" y="1562249"/>
                </a:lnTo>
                <a:lnTo>
                  <a:pt x="0" y="156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24672" y="5533995"/>
            <a:ext cx="3586881" cy="3306452"/>
          </a:xfrm>
          <a:custGeom>
            <a:avLst/>
            <a:gdLst/>
            <a:ahLst/>
            <a:cxnLst/>
            <a:rect r="r" b="b" t="t" l="l"/>
            <a:pathLst>
              <a:path h="3306452" w="3586881">
                <a:moveTo>
                  <a:pt x="0" y="0"/>
                </a:moveTo>
                <a:lnTo>
                  <a:pt x="3586881" y="0"/>
                </a:lnTo>
                <a:lnTo>
                  <a:pt x="3586881" y="3306452"/>
                </a:lnTo>
                <a:lnTo>
                  <a:pt x="0" y="3306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99358" y="3773503"/>
            <a:ext cx="5051790" cy="7861360"/>
          </a:xfrm>
          <a:custGeom>
            <a:avLst/>
            <a:gdLst/>
            <a:ahLst/>
            <a:cxnLst/>
            <a:rect r="r" b="b" t="t" l="l"/>
            <a:pathLst>
              <a:path h="7861360" w="5051790">
                <a:moveTo>
                  <a:pt x="0" y="0"/>
                </a:moveTo>
                <a:lnTo>
                  <a:pt x="5051790" y="0"/>
                </a:lnTo>
                <a:lnTo>
                  <a:pt x="5051790" y="7861360"/>
                </a:lnTo>
                <a:lnTo>
                  <a:pt x="0" y="7861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8754" y="1516655"/>
            <a:ext cx="9590712" cy="5958230"/>
          </a:xfrm>
          <a:custGeom>
            <a:avLst/>
            <a:gdLst/>
            <a:ahLst/>
            <a:cxnLst/>
            <a:rect r="r" b="b" t="t" l="l"/>
            <a:pathLst>
              <a:path h="5958230" w="9590712">
                <a:moveTo>
                  <a:pt x="0" y="0"/>
                </a:moveTo>
                <a:lnTo>
                  <a:pt x="9590712" y="0"/>
                </a:lnTo>
                <a:lnTo>
                  <a:pt x="9590712" y="5958230"/>
                </a:lnTo>
                <a:lnTo>
                  <a:pt x="0" y="5958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455035" y="-442015"/>
            <a:ext cx="3869203" cy="6021072"/>
          </a:xfrm>
          <a:custGeom>
            <a:avLst/>
            <a:gdLst/>
            <a:ahLst/>
            <a:cxnLst/>
            <a:rect r="r" b="b" t="t" l="l"/>
            <a:pathLst>
              <a:path h="6021072" w="3869203">
                <a:moveTo>
                  <a:pt x="3869203" y="6021072"/>
                </a:moveTo>
                <a:lnTo>
                  <a:pt x="0" y="6021072"/>
                </a:lnTo>
                <a:lnTo>
                  <a:pt x="0" y="0"/>
                </a:lnTo>
                <a:lnTo>
                  <a:pt x="3869203" y="0"/>
                </a:lnTo>
                <a:lnTo>
                  <a:pt x="3869203" y="602107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9337065" y="7876373"/>
            <a:ext cx="1432149" cy="473911"/>
          </a:xfrm>
          <a:custGeom>
            <a:avLst/>
            <a:gdLst/>
            <a:ahLst/>
            <a:cxnLst/>
            <a:rect r="r" b="b" t="t" l="l"/>
            <a:pathLst>
              <a:path h="473911" w="1432149">
                <a:moveTo>
                  <a:pt x="0" y="0"/>
                </a:moveTo>
                <a:lnTo>
                  <a:pt x="1432149" y="0"/>
                </a:lnTo>
                <a:lnTo>
                  <a:pt x="1432149" y="473911"/>
                </a:lnTo>
                <a:lnTo>
                  <a:pt x="0" y="4739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4605965" y="1401490"/>
            <a:ext cx="1432149" cy="473911"/>
          </a:xfrm>
          <a:custGeom>
            <a:avLst/>
            <a:gdLst/>
            <a:ahLst/>
            <a:cxnLst/>
            <a:rect r="r" b="b" t="t" l="l"/>
            <a:pathLst>
              <a:path h="473911" w="1432149">
                <a:moveTo>
                  <a:pt x="0" y="0"/>
                </a:moveTo>
                <a:lnTo>
                  <a:pt x="1432149" y="0"/>
                </a:lnTo>
                <a:lnTo>
                  <a:pt x="1432149" y="473911"/>
                </a:lnTo>
                <a:lnTo>
                  <a:pt x="0" y="4739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25278" y="913053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47307" y="-154107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37065" y="2568521"/>
            <a:ext cx="9431396" cy="184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47"/>
              </a:lnSpc>
            </a:pPr>
            <a:r>
              <a:rPr lang="en-US" sz="12122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Attr2Face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644278" y="5970642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3589309" y="5585515"/>
                </a:moveTo>
                <a:lnTo>
                  <a:pt x="0" y="5585515"/>
                </a:lnTo>
                <a:lnTo>
                  <a:pt x="0" y="0"/>
                </a:lnTo>
                <a:lnTo>
                  <a:pt x="3589309" y="0"/>
                </a:lnTo>
                <a:lnTo>
                  <a:pt x="3589309" y="55855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92377" y="7811166"/>
            <a:ext cx="5966923" cy="1562249"/>
          </a:xfrm>
          <a:custGeom>
            <a:avLst/>
            <a:gdLst/>
            <a:ahLst/>
            <a:cxnLst/>
            <a:rect r="r" b="b" t="t" l="l"/>
            <a:pathLst>
              <a:path h="1562249" w="5966923">
                <a:moveTo>
                  <a:pt x="0" y="0"/>
                </a:moveTo>
                <a:lnTo>
                  <a:pt x="5966923" y="0"/>
                </a:lnTo>
                <a:lnTo>
                  <a:pt x="5966923" y="1562249"/>
                </a:lnTo>
                <a:lnTo>
                  <a:pt x="0" y="156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62613" y="1559587"/>
            <a:ext cx="5796687" cy="7167827"/>
          </a:xfrm>
          <a:custGeom>
            <a:avLst/>
            <a:gdLst/>
            <a:ahLst/>
            <a:cxnLst/>
            <a:rect r="r" b="b" t="t" l="l"/>
            <a:pathLst>
              <a:path h="7167827" w="5796687">
                <a:moveTo>
                  <a:pt x="0" y="0"/>
                </a:moveTo>
                <a:lnTo>
                  <a:pt x="5796687" y="0"/>
                </a:lnTo>
                <a:lnTo>
                  <a:pt x="5796687" y="7167826"/>
                </a:lnTo>
                <a:lnTo>
                  <a:pt x="0" y="7167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3904620"/>
            <a:ext cx="9810924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Conditional GAN for Attribute-Controlled Face Generation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Using CelebA Dataset (Subset) + PyTorch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7976" y="1911345"/>
            <a:ext cx="10582304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1"/>
              </a:lnSpc>
            </a:pPr>
            <a:r>
              <a:rPr lang="en-US" sz="9576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68338" y="6465542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3589309" y="5585516"/>
                </a:moveTo>
                <a:lnTo>
                  <a:pt x="0" y="5585516"/>
                </a:lnTo>
                <a:lnTo>
                  <a:pt x="0" y="0"/>
                </a:lnTo>
                <a:lnTo>
                  <a:pt x="3589309" y="0"/>
                </a:lnTo>
                <a:lnTo>
                  <a:pt x="3589309" y="55855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343404" y="-1256825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0" y="0"/>
                </a:moveTo>
                <a:lnTo>
                  <a:pt x="3589309" y="0"/>
                </a:lnTo>
                <a:lnTo>
                  <a:pt x="3589309" y="5585515"/>
                </a:lnTo>
                <a:lnTo>
                  <a:pt x="0" y="5585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77495" y="8539412"/>
            <a:ext cx="5966923" cy="1562249"/>
          </a:xfrm>
          <a:custGeom>
            <a:avLst/>
            <a:gdLst/>
            <a:ahLst/>
            <a:cxnLst/>
            <a:rect r="r" b="b" t="t" l="l"/>
            <a:pathLst>
              <a:path h="1562249" w="5966923">
                <a:moveTo>
                  <a:pt x="0" y="0"/>
                </a:moveTo>
                <a:lnTo>
                  <a:pt x="5966923" y="0"/>
                </a:lnTo>
                <a:lnTo>
                  <a:pt x="5966923" y="1562249"/>
                </a:lnTo>
                <a:lnTo>
                  <a:pt x="0" y="156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18243" y="4168271"/>
            <a:ext cx="3209672" cy="4114800"/>
          </a:xfrm>
          <a:custGeom>
            <a:avLst/>
            <a:gdLst/>
            <a:ahLst/>
            <a:cxnLst/>
            <a:rect r="r" b="b" t="t" l="l"/>
            <a:pathLst>
              <a:path h="4114800" w="3209672">
                <a:moveTo>
                  <a:pt x="0" y="0"/>
                </a:moveTo>
                <a:lnTo>
                  <a:pt x="3209673" y="0"/>
                </a:lnTo>
                <a:lnTo>
                  <a:pt x="32096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41783" y="1706664"/>
            <a:ext cx="14786133" cy="753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02"/>
              </a:lnSpc>
            </a:pPr>
            <a:r>
              <a:rPr lang="en-US" b="true" sz="3787" u="sng">
                <a:solidFill>
                  <a:srgbClr val="D6D6D4"/>
                </a:solidFill>
                <a:latin typeface="Poppins Bold"/>
                <a:ea typeface="Poppins Bold"/>
                <a:cs typeface="Poppins Bold"/>
                <a:sym typeface="Poppins Bold"/>
              </a:rPr>
              <a:t>What Problem Are We Solving?</a:t>
            </a:r>
          </a:p>
          <a:p>
            <a:pPr algn="just">
              <a:lnSpc>
                <a:spcPts val="4175"/>
              </a:lnSpc>
            </a:pPr>
            <a:r>
              <a:rPr lang="en-US" sz="298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Generating realistic human faces with controlled attributes is challenging.</a:t>
            </a:r>
          </a:p>
          <a:p>
            <a:pPr algn="just">
              <a:lnSpc>
                <a:spcPts val="4175"/>
              </a:lnSpc>
            </a:pPr>
            <a:r>
              <a:rPr lang="en-US" sz="298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Traditional GANs:</a:t>
            </a:r>
          </a:p>
          <a:p>
            <a:pPr algn="just" marL="643902" indent="-321951" lvl="1">
              <a:lnSpc>
                <a:spcPts val="4175"/>
              </a:lnSpc>
              <a:buFont typeface="Arial"/>
              <a:buChar char="•"/>
            </a:pPr>
            <a:r>
              <a:rPr lang="en-US" b="true" sz="298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 random faces</a:t>
            </a:r>
          </a:p>
          <a:p>
            <a:pPr algn="just" marL="643902" indent="-321951" lvl="1">
              <a:lnSpc>
                <a:spcPts val="4175"/>
              </a:lnSpc>
              <a:buFont typeface="Arial"/>
              <a:buChar char="•"/>
            </a:pPr>
            <a:r>
              <a:rPr lang="en-US" b="true" sz="298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control over output characteristics</a:t>
            </a:r>
          </a:p>
          <a:p>
            <a:pPr algn="just">
              <a:lnSpc>
                <a:spcPts val="4175"/>
              </a:lnSpc>
            </a:pPr>
            <a:r>
              <a:rPr lang="en-US" sz="298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Our Goal</a:t>
            </a:r>
          </a:p>
          <a:p>
            <a:pPr algn="just">
              <a:lnSpc>
                <a:spcPts val="4175"/>
              </a:lnSpc>
            </a:pPr>
            <a:r>
              <a:rPr lang="en-US" sz="298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a model that can generate faces based on:</a:t>
            </a:r>
          </a:p>
          <a:p>
            <a:pPr algn="just" marL="643902" indent="-321951" lvl="1">
              <a:lnSpc>
                <a:spcPts val="4175"/>
              </a:lnSpc>
              <a:buFont typeface="Arial"/>
              <a:buChar char="•"/>
            </a:pPr>
            <a:r>
              <a:rPr lang="en-US" b="true" sz="298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Smiling</a:t>
            </a:r>
          </a:p>
          <a:p>
            <a:pPr algn="just" marL="643902" indent="-321951" lvl="1">
              <a:lnSpc>
                <a:spcPts val="4175"/>
              </a:lnSpc>
              <a:buFont typeface="Arial"/>
              <a:buChar char="•"/>
            </a:pPr>
            <a:r>
              <a:rPr lang="en-US" b="true" sz="298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Wearing Glasses</a:t>
            </a:r>
          </a:p>
          <a:p>
            <a:pPr algn="just" marL="643902" indent="-321951" lvl="1">
              <a:lnSpc>
                <a:spcPts val="4175"/>
              </a:lnSpc>
              <a:buFont typeface="Arial"/>
              <a:buChar char="•"/>
            </a:pPr>
            <a:r>
              <a:rPr lang="en-US" b="true" sz="298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Gender (Male/Female)</a:t>
            </a:r>
          </a:p>
          <a:p>
            <a:pPr algn="just">
              <a:lnSpc>
                <a:spcPts val="4175"/>
              </a:lnSpc>
            </a:pPr>
            <a:r>
              <a:rPr lang="en-US" sz="298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Example:</a:t>
            </a:r>
          </a:p>
          <a:p>
            <a:pPr algn="just">
              <a:lnSpc>
                <a:spcPts val="4175"/>
              </a:lnSpc>
            </a:pPr>
            <a:r>
              <a:rPr lang="en-US" sz="298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Input → “Smiling Male with Glasses”</a:t>
            </a:r>
          </a:p>
          <a:p>
            <a:pPr algn="just">
              <a:lnSpc>
                <a:spcPts val="4175"/>
              </a:lnSpc>
            </a:pPr>
            <a:r>
              <a:rPr lang="en-US" sz="298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Output → Matching synthetic face</a:t>
            </a:r>
          </a:p>
          <a:p>
            <a:pPr algn="just">
              <a:lnSpc>
                <a:spcPts val="4175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10800000">
            <a:off x="8427926" y="791744"/>
            <a:ext cx="1432149" cy="473911"/>
          </a:xfrm>
          <a:custGeom>
            <a:avLst/>
            <a:gdLst/>
            <a:ahLst/>
            <a:cxnLst/>
            <a:rect r="r" b="b" t="t" l="l"/>
            <a:pathLst>
              <a:path h="473911" w="1432149">
                <a:moveTo>
                  <a:pt x="0" y="0"/>
                </a:moveTo>
                <a:lnTo>
                  <a:pt x="1432148" y="0"/>
                </a:lnTo>
                <a:lnTo>
                  <a:pt x="1432148" y="473912"/>
                </a:lnTo>
                <a:lnTo>
                  <a:pt x="0" y="473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59300" y="-1081146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588378" y="9240441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1009" y="8680165"/>
            <a:ext cx="5966923" cy="1562249"/>
          </a:xfrm>
          <a:custGeom>
            <a:avLst/>
            <a:gdLst/>
            <a:ahLst/>
            <a:cxnLst/>
            <a:rect r="r" b="b" t="t" l="l"/>
            <a:pathLst>
              <a:path h="1562249" w="5966923">
                <a:moveTo>
                  <a:pt x="0" y="0"/>
                </a:moveTo>
                <a:lnTo>
                  <a:pt x="5966923" y="0"/>
                </a:lnTo>
                <a:lnTo>
                  <a:pt x="5966923" y="1562249"/>
                </a:lnTo>
                <a:lnTo>
                  <a:pt x="0" y="1562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12592" y="4698620"/>
            <a:ext cx="4909007" cy="4400255"/>
          </a:xfrm>
          <a:custGeom>
            <a:avLst/>
            <a:gdLst/>
            <a:ahLst/>
            <a:cxnLst/>
            <a:rect r="r" b="b" t="t" l="l"/>
            <a:pathLst>
              <a:path h="4400255" w="4909007">
                <a:moveTo>
                  <a:pt x="0" y="0"/>
                </a:moveTo>
                <a:lnTo>
                  <a:pt x="4909006" y="0"/>
                </a:lnTo>
                <a:lnTo>
                  <a:pt x="4909006" y="4400256"/>
                </a:lnTo>
                <a:lnTo>
                  <a:pt x="0" y="44002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-5400000">
            <a:off x="206562" y="6465542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3589309" y="5585516"/>
                </a:moveTo>
                <a:lnTo>
                  <a:pt x="0" y="5585516"/>
                </a:lnTo>
                <a:lnTo>
                  <a:pt x="0" y="0"/>
                </a:lnTo>
                <a:lnTo>
                  <a:pt x="3589309" y="0"/>
                </a:lnTo>
                <a:lnTo>
                  <a:pt x="3589309" y="558551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14492129" y="6465542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3589309" y="0"/>
                </a:moveTo>
                <a:lnTo>
                  <a:pt x="0" y="0"/>
                </a:lnTo>
                <a:lnTo>
                  <a:pt x="0" y="5585516"/>
                </a:lnTo>
                <a:lnTo>
                  <a:pt x="3589309" y="5585516"/>
                </a:lnTo>
                <a:lnTo>
                  <a:pt x="35893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285" y="2397445"/>
            <a:ext cx="7503434" cy="466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9"/>
              </a:lnSpc>
            </a:pPr>
            <a:r>
              <a:rPr lang="en-US" sz="4564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 World Applications</a:t>
            </a:r>
          </a:p>
          <a:p>
            <a:pPr algn="l" marL="685515" indent="-342757" lvl="1">
              <a:lnSpc>
                <a:spcPts val="4445"/>
              </a:lnSpc>
              <a:buAutoNum type="arabicPeriod" startAt="1"/>
            </a:pPr>
            <a:r>
              <a:rPr lang="en-US" b="true" sz="3175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Avatar Generation</a:t>
            </a:r>
          </a:p>
          <a:p>
            <a:pPr algn="l" marL="685515" indent="-342757" lvl="1">
              <a:lnSpc>
                <a:spcPts val="4445"/>
              </a:lnSpc>
              <a:buAutoNum type="arabicPeriod" startAt="1"/>
            </a:pPr>
            <a:r>
              <a:rPr lang="en-US" b="true" sz="3175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Gaming Character Creation</a:t>
            </a:r>
          </a:p>
          <a:p>
            <a:pPr algn="l" marL="685515" indent="-342757" lvl="1">
              <a:lnSpc>
                <a:spcPts val="4445"/>
              </a:lnSpc>
              <a:buAutoNum type="arabicPeriod" startAt="1"/>
            </a:pPr>
            <a:r>
              <a:rPr lang="en-US" b="true" sz="3175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Movie / VFX Industry</a:t>
            </a:r>
          </a:p>
          <a:p>
            <a:pPr algn="l" marL="685515" indent="-342757" lvl="1">
              <a:lnSpc>
                <a:spcPts val="4445"/>
              </a:lnSpc>
              <a:buAutoNum type="arabicPeriod" startAt="1"/>
            </a:pPr>
            <a:r>
              <a:rPr lang="en-US" b="true" sz="3175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Augmentation</a:t>
            </a:r>
          </a:p>
          <a:p>
            <a:pPr algn="l" marL="685515" indent="-342757" lvl="1">
              <a:lnSpc>
                <a:spcPts val="4445"/>
              </a:lnSpc>
              <a:buAutoNum type="arabicPeriod" startAt="1"/>
            </a:pPr>
            <a:r>
              <a:rPr lang="en-US" b="true" sz="3175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Privacy Preserving Synthetic Identity Generation</a:t>
            </a:r>
          </a:p>
          <a:p>
            <a:pPr algn="l" marL="685515" indent="-342757" lvl="1">
              <a:lnSpc>
                <a:spcPts val="4445"/>
              </a:lnSpc>
              <a:buAutoNum type="arabicPeriod" startAt="1"/>
            </a:pPr>
            <a:r>
              <a:rPr lang="en-US" b="true" sz="3175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AI Content Creation Tools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5281" y="2490117"/>
            <a:ext cx="8242719" cy="4973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02"/>
              </a:lnSpc>
            </a:pPr>
            <a:r>
              <a:rPr lang="en-US" sz="5644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Industry Relevance</a:t>
            </a:r>
          </a:p>
          <a:p>
            <a:pPr algn="l">
              <a:lnSpc>
                <a:spcPts val="5203"/>
              </a:lnSpc>
            </a:pPr>
            <a:r>
              <a:rPr lang="en-US" sz="3717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Conditional image generation is core to:</a:t>
            </a:r>
          </a:p>
          <a:p>
            <a:pPr algn="l" marL="802521" indent="-401261" lvl="1">
              <a:lnSpc>
                <a:spcPts val="5203"/>
              </a:lnSpc>
              <a:buFont typeface="Arial"/>
              <a:buChar char="•"/>
            </a:pPr>
            <a:r>
              <a:rPr lang="en-US" b="true" sz="3717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Stable Diffusion pipelines</a:t>
            </a:r>
          </a:p>
          <a:p>
            <a:pPr algn="l" marL="802521" indent="-401261" lvl="1">
              <a:lnSpc>
                <a:spcPts val="5203"/>
              </a:lnSpc>
              <a:buFont typeface="Arial"/>
              <a:buChar char="•"/>
            </a:pPr>
            <a:r>
              <a:rPr lang="en-US" b="true" sz="3717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Text-to-Image models</a:t>
            </a:r>
          </a:p>
          <a:p>
            <a:pPr algn="l" marL="802521" indent="-401261" lvl="1">
              <a:lnSpc>
                <a:spcPts val="5203"/>
              </a:lnSpc>
              <a:buFont typeface="Arial"/>
              <a:buChar char="•"/>
            </a:pPr>
            <a:r>
              <a:rPr lang="en-US" b="true" sz="3717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Personalization AI systems</a:t>
            </a:r>
          </a:p>
          <a:p>
            <a:pPr algn="l">
              <a:lnSpc>
                <a:spcPts val="5203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5246363" y="1850189"/>
            <a:ext cx="1432149" cy="473911"/>
          </a:xfrm>
          <a:custGeom>
            <a:avLst/>
            <a:gdLst/>
            <a:ahLst/>
            <a:cxnLst/>
            <a:rect r="r" b="b" t="t" l="l"/>
            <a:pathLst>
              <a:path h="473911" w="1432149">
                <a:moveTo>
                  <a:pt x="0" y="0"/>
                </a:moveTo>
                <a:lnTo>
                  <a:pt x="1432149" y="0"/>
                </a:lnTo>
                <a:lnTo>
                  <a:pt x="1432149" y="473911"/>
                </a:lnTo>
                <a:lnTo>
                  <a:pt x="0" y="473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609488" y="1850189"/>
            <a:ext cx="1432149" cy="473911"/>
          </a:xfrm>
          <a:custGeom>
            <a:avLst/>
            <a:gdLst/>
            <a:ahLst/>
            <a:cxnLst/>
            <a:rect r="r" b="b" t="t" l="l"/>
            <a:pathLst>
              <a:path h="473911" w="1432149">
                <a:moveTo>
                  <a:pt x="0" y="0"/>
                </a:moveTo>
                <a:lnTo>
                  <a:pt x="1432149" y="0"/>
                </a:lnTo>
                <a:lnTo>
                  <a:pt x="1432149" y="473911"/>
                </a:lnTo>
                <a:lnTo>
                  <a:pt x="0" y="473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588378" y="9240441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59300" y="9240441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446604" y="5362276"/>
            <a:ext cx="4452533" cy="6928824"/>
          </a:xfrm>
          <a:custGeom>
            <a:avLst/>
            <a:gdLst/>
            <a:ahLst/>
            <a:cxnLst/>
            <a:rect r="r" b="b" t="t" l="l"/>
            <a:pathLst>
              <a:path h="6928824" w="4452533">
                <a:moveTo>
                  <a:pt x="4452533" y="6928824"/>
                </a:moveTo>
                <a:lnTo>
                  <a:pt x="0" y="6928824"/>
                </a:lnTo>
                <a:lnTo>
                  <a:pt x="0" y="0"/>
                </a:lnTo>
                <a:lnTo>
                  <a:pt x="4452533" y="0"/>
                </a:lnTo>
                <a:lnTo>
                  <a:pt x="4452533" y="6928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4086" y="9065707"/>
            <a:ext cx="5966923" cy="1562249"/>
          </a:xfrm>
          <a:custGeom>
            <a:avLst/>
            <a:gdLst/>
            <a:ahLst/>
            <a:cxnLst/>
            <a:rect r="r" b="b" t="t" l="l"/>
            <a:pathLst>
              <a:path h="1562249" w="5966923">
                <a:moveTo>
                  <a:pt x="0" y="0"/>
                </a:moveTo>
                <a:lnTo>
                  <a:pt x="5966923" y="0"/>
                </a:lnTo>
                <a:lnTo>
                  <a:pt x="5966923" y="1562249"/>
                </a:lnTo>
                <a:lnTo>
                  <a:pt x="0" y="1562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6176" y="4338525"/>
            <a:ext cx="6068489" cy="5395438"/>
          </a:xfrm>
          <a:custGeom>
            <a:avLst/>
            <a:gdLst/>
            <a:ahLst/>
            <a:cxnLst/>
            <a:rect r="r" b="b" t="t" l="l"/>
            <a:pathLst>
              <a:path h="5395438" w="6068489">
                <a:moveTo>
                  <a:pt x="0" y="0"/>
                </a:moveTo>
                <a:lnTo>
                  <a:pt x="6068489" y="0"/>
                </a:lnTo>
                <a:lnTo>
                  <a:pt x="6068489" y="5395438"/>
                </a:lnTo>
                <a:lnTo>
                  <a:pt x="0" y="53954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8010025" y="2304282"/>
            <a:ext cx="8871767" cy="742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79"/>
              </a:lnSpc>
            </a:pPr>
            <a:r>
              <a:rPr lang="en-US" sz="434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Dataset Used: CelebA (Subset)</a:t>
            </a:r>
          </a:p>
          <a:p>
            <a:pPr algn="just">
              <a:lnSpc>
                <a:spcPts val="4400"/>
              </a:lnSpc>
            </a:pPr>
            <a:r>
              <a:rPr lang="en-US" sz="314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Original Dataset:</a:t>
            </a:r>
          </a:p>
          <a:p>
            <a:pPr algn="just" marL="678548" indent="-339274" lvl="1">
              <a:lnSpc>
                <a:spcPts val="4400"/>
              </a:lnSpc>
              <a:buFont typeface="Arial"/>
              <a:buChar char="•"/>
            </a:pPr>
            <a:r>
              <a:rPr lang="en-US" b="true" sz="314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200K+ celebrity face images</a:t>
            </a:r>
          </a:p>
          <a:p>
            <a:pPr algn="just" marL="678548" indent="-339274" lvl="1">
              <a:lnSpc>
                <a:spcPts val="4400"/>
              </a:lnSpc>
              <a:buFont typeface="Arial"/>
              <a:buChar char="•"/>
            </a:pPr>
            <a:r>
              <a:rPr lang="en-US" b="true" sz="314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40 facial attributes</a:t>
            </a:r>
          </a:p>
          <a:p>
            <a:pPr algn="just">
              <a:lnSpc>
                <a:spcPts val="4400"/>
              </a:lnSpc>
            </a:pPr>
            <a:r>
              <a:rPr lang="en-US" sz="314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Project Subset:</a:t>
            </a:r>
          </a:p>
          <a:p>
            <a:pPr algn="just" marL="678548" indent="-339274" lvl="1">
              <a:lnSpc>
                <a:spcPts val="4400"/>
              </a:lnSpc>
              <a:buFont typeface="Arial"/>
              <a:buChar char="•"/>
            </a:pPr>
            <a:r>
              <a:rPr lang="en-US" b="true" sz="314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5K – 20K images</a:t>
            </a:r>
          </a:p>
          <a:p>
            <a:pPr algn="just" marL="678548" indent="-339274" lvl="1">
              <a:lnSpc>
                <a:spcPts val="4400"/>
              </a:lnSpc>
              <a:buFont typeface="Arial"/>
              <a:buChar char="•"/>
            </a:pPr>
            <a:r>
              <a:rPr lang="en-US" b="true" sz="314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Image size → 64 × 64</a:t>
            </a:r>
          </a:p>
          <a:p>
            <a:pPr algn="just" marL="678548" indent="-339274" lvl="1">
              <a:lnSpc>
                <a:spcPts val="4400"/>
              </a:lnSpc>
              <a:buFont typeface="Arial"/>
              <a:buChar char="•"/>
            </a:pPr>
            <a:r>
              <a:rPr lang="en-US" b="true" sz="314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Normalized → [-1, 1]</a:t>
            </a:r>
          </a:p>
          <a:p>
            <a:pPr algn="just">
              <a:lnSpc>
                <a:spcPts val="4400"/>
              </a:lnSpc>
            </a:pPr>
            <a:r>
              <a:rPr lang="en-US" sz="3142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Selected Attributes</a:t>
            </a:r>
          </a:p>
          <a:p>
            <a:pPr algn="just" marL="678548" indent="-339274" lvl="1">
              <a:lnSpc>
                <a:spcPts val="4400"/>
              </a:lnSpc>
              <a:buFont typeface="Arial"/>
              <a:buChar char="•"/>
            </a:pPr>
            <a:r>
              <a:rPr lang="en-US" b="true" sz="314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Smiling</a:t>
            </a:r>
          </a:p>
          <a:p>
            <a:pPr algn="just" marL="678548" indent="-339274" lvl="1">
              <a:lnSpc>
                <a:spcPts val="4400"/>
              </a:lnSpc>
              <a:buFont typeface="Arial"/>
              <a:buChar char="•"/>
            </a:pPr>
            <a:r>
              <a:rPr lang="en-US" b="true" sz="314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Eyeglasses</a:t>
            </a:r>
          </a:p>
          <a:p>
            <a:pPr algn="just" marL="678548" indent="-339274" lvl="1">
              <a:lnSpc>
                <a:spcPts val="4400"/>
              </a:lnSpc>
              <a:buFont typeface="Arial"/>
              <a:buChar char="•"/>
            </a:pPr>
            <a:r>
              <a:rPr lang="en-US" b="true" sz="3142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Male</a:t>
            </a:r>
          </a:p>
          <a:p>
            <a:pPr algn="just">
              <a:lnSpc>
                <a:spcPts val="44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1511810" y="1181335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8" y="0"/>
                </a:lnTo>
                <a:lnTo>
                  <a:pt x="1868198" y="618203"/>
                </a:lnTo>
                <a:lnTo>
                  <a:pt x="0" y="618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450303" y="5511053"/>
            <a:ext cx="4083359" cy="6354332"/>
          </a:xfrm>
          <a:custGeom>
            <a:avLst/>
            <a:gdLst/>
            <a:ahLst/>
            <a:cxnLst/>
            <a:rect r="r" b="b" t="t" l="l"/>
            <a:pathLst>
              <a:path h="6354332" w="4083359">
                <a:moveTo>
                  <a:pt x="4083359" y="6354332"/>
                </a:moveTo>
                <a:lnTo>
                  <a:pt x="0" y="6354332"/>
                </a:lnTo>
                <a:lnTo>
                  <a:pt x="0" y="0"/>
                </a:lnTo>
                <a:lnTo>
                  <a:pt x="4083359" y="0"/>
                </a:lnTo>
                <a:lnTo>
                  <a:pt x="4083359" y="63543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3754338" y="5511053"/>
            <a:ext cx="4083359" cy="6354332"/>
          </a:xfrm>
          <a:custGeom>
            <a:avLst/>
            <a:gdLst/>
            <a:ahLst/>
            <a:cxnLst/>
            <a:rect r="r" b="b" t="t" l="l"/>
            <a:pathLst>
              <a:path h="6354332" w="4083359">
                <a:moveTo>
                  <a:pt x="4083359" y="0"/>
                </a:moveTo>
                <a:lnTo>
                  <a:pt x="0" y="0"/>
                </a:lnTo>
                <a:lnTo>
                  <a:pt x="0" y="6354332"/>
                </a:lnTo>
                <a:lnTo>
                  <a:pt x="4083359" y="6354332"/>
                </a:lnTo>
                <a:lnTo>
                  <a:pt x="40833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73278" y="1028700"/>
            <a:ext cx="12741443" cy="101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8"/>
              </a:lnSpc>
            </a:pPr>
            <a:r>
              <a:rPr lang="en-US" sz="6631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1983" y="2001236"/>
            <a:ext cx="14154205" cy="70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4"/>
              </a:lnSpc>
            </a:pPr>
          </a:p>
          <a:p>
            <a:pPr algn="just">
              <a:lnSpc>
                <a:spcPts val="4214"/>
              </a:lnSpc>
            </a:pPr>
            <a:r>
              <a:rPr lang="en-US" b="true" sz="35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Type: Conditional GAN</a:t>
            </a:r>
          </a:p>
          <a:p>
            <a:pPr algn="just">
              <a:lnSpc>
                <a:spcPts val="4214"/>
              </a:lnSpc>
            </a:pPr>
          </a:p>
          <a:p>
            <a:pPr algn="just">
              <a:lnSpc>
                <a:spcPts val="4214"/>
              </a:lnSpc>
            </a:pPr>
            <a:r>
              <a:rPr lang="en-US" b="true" sz="35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Components:</a:t>
            </a:r>
          </a:p>
          <a:p>
            <a:pPr algn="just">
              <a:lnSpc>
                <a:spcPts val="3854"/>
              </a:lnSpc>
            </a:pP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</a:t>
            </a: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Generator</a:t>
            </a:r>
          </a:p>
          <a:p>
            <a:pPr algn="just" marL="693509" indent="-346754" lvl="1">
              <a:lnSpc>
                <a:spcPts val="3854"/>
              </a:lnSpc>
              <a:buFont typeface="Arial"/>
              <a:buChar char="•"/>
            </a:pP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Input → Noise + Attribute Vector</a:t>
            </a:r>
          </a:p>
          <a:p>
            <a:pPr algn="just" marL="693509" indent="-346754" lvl="1">
              <a:lnSpc>
                <a:spcPts val="3854"/>
              </a:lnSpc>
              <a:buFont typeface="Arial"/>
              <a:buChar char="•"/>
            </a:pP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Output → Synthetic Face Image</a:t>
            </a:r>
          </a:p>
          <a:p>
            <a:pPr algn="just">
              <a:lnSpc>
                <a:spcPts val="3854"/>
              </a:lnSpc>
            </a:pP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</a:t>
            </a: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Discriminator</a:t>
            </a:r>
          </a:p>
          <a:p>
            <a:pPr algn="just" marL="693509" indent="-346754" lvl="1">
              <a:lnSpc>
                <a:spcPts val="3854"/>
              </a:lnSpc>
              <a:buFont typeface="Arial"/>
              <a:buChar char="•"/>
            </a:pP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Input → Image + Attribute Vector</a:t>
            </a:r>
          </a:p>
          <a:p>
            <a:pPr algn="just" marL="693509" indent="-346754" lvl="1">
              <a:lnSpc>
                <a:spcPts val="3854"/>
              </a:lnSpc>
              <a:buFont typeface="Arial"/>
              <a:buChar char="•"/>
            </a:pP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Output → Real / Fake Score</a:t>
            </a:r>
          </a:p>
          <a:p>
            <a:pPr algn="just">
              <a:lnSpc>
                <a:spcPts val="3854"/>
              </a:lnSpc>
            </a:pPr>
          </a:p>
          <a:p>
            <a:pPr algn="just">
              <a:lnSpc>
                <a:spcPts val="3854"/>
              </a:lnSpc>
            </a:pP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learns:</a:t>
            </a:r>
          </a:p>
          <a:p>
            <a:pPr algn="just">
              <a:lnSpc>
                <a:spcPts val="3854"/>
              </a:lnSpc>
            </a:pPr>
            <a:r>
              <a:rPr lang="en-US" b="true" sz="3212">
                <a:solidFill>
                  <a:srgbClr val="E9E8E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P(Image | Attributes)</a:t>
            </a:r>
          </a:p>
          <a:p>
            <a:pPr algn="just">
              <a:lnSpc>
                <a:spcPts val="421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588378" y="8688219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8688219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450303" y="5511053"/>
            <a:ext cx="4083359" cy="6354332"/>
          </a:xfrm>
          <a:custGeom>
            <a:avLst/>
            <a:gdLst/>
            <a:ahLst/>
            <a:cxnLst/>
            <a:rect r="r" b="b" t="t" l="l"/>
            <a:pathLst>
              <a:path h="6354332" w="4083359">
                <a:moveTo>
                  <a:pt x="4083359" y="6354332"/>
                </a:moveTo>
                <a:lnTo>
                  <a:pt x="0" y="6354332"/>
                </a:lnTo>
                <a:lnTo>
                  <a:pt x="0" y="0"/>
                </a:lnTo>
                <a:lnTo>
                  <a:pt x="4083359" y="0"/>
                </a:lnTo>
                <a:lnTo>
                  <a:pt x="4083359" y="63543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3754338" y="5511053"/>
            <a:ext cx="4083359" cy="6354332"/>
          </a:xfrm>
          <a:custGeom>
            <a:avLst/>
            <a:gdLst/>
            <a:ahLst/>
            <a:cxnLst/>
            <a:rect r="r" b="b" t="t" l="l"/>
            <a:pathLst>
              <a:path h="6354332" w="4083359">
                <a:moveTo>
                  <a:pt x="4083359" y="0"/>
                </a:moveTo>
                <a:lnTo>
                  <a:pt x="0" y="0"/>
                </a:lnTo>
                <a:lnTo>
                  <a:pt x="0" y="6354332"/>
                </a:lnTo>
                <a:lnTo>
                  <a:pt x="4083359" y="6354332"/>
                </a:lnTo>
                <a:lnTo>
                  <a:pt x="40833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90768" y="1402447"/>
            <a:ext cx="9411604" cy="86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1"/>
              </a:lnSpc>
            </a:pPr>
            <a:r>
              <a:rPr lang="en-US" sz="5659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PIPELINE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32488" y="2690506"/>
            <a:ext cx="10335335" cy="670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4"/>
              </a:lnSpc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1 — Dataset Loader</a:t>
            </a:r>
          </a:p>
          <a:p>
            <a:pPr algn="just" marL="675561" indent="-337780" lvl="1">
              <a:lnSpc>
                <a:spcPts val="3754"/>
              </a:lnSpc>
              <a:buFont typeface="Arial"/>
              <a:buChar char="•"/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Load images + attributes</a:t>
            </a:r>
          </a:p>
          <a:p>
            <a:pPr algn="just" marL="675561" indent="-337780" lvl="1">
              <a:lnSpc>
                <a:spcPts val="3754"/>
              </a:lnSpc>
              <a:buFont typeface="Arial"/>
              <a:buChar char="•"/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Batch visualization</a:t>
            </a:r>
          </a:p>
          <a:p>
            <a:pPr algn="just">
              <a:lnSpc>
                <a:spcPts val="3754"/>
              </a:lnSpc>
            </a:pPr>
          </a:p>
          <a:p>
            <a:pPr algn="just">
              <a:lnSpc>
                <a:spcPts val="3754"/>
              </a:lnSpc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2 — DCGAN Baseline</a:t>
            </a:r>
          </a:p>
          <a:p>
            <a:pPr algn="just" marL="675561" indent="-337780" lvl="1">
              <a:lnSpc>
                <a:spcPts val="3754"/>
              </a:lnSpc>
              <a:buFont typeface="Arial"/>
              <a:buChar char="•"/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Generator + Discriminator CNN</a:t>
            </a:r>
          </a:p>
          <a:p>
            <a:pPr algn="just" marL="675561" indent="-337780" lvl="1">
              <a:lnSpc>
                <a:spcPts val="3754"/>
              </a:lnSpc>
              <a:buFont typeface="Arial"/>
              <a:buChar char="•"/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Baseline training</a:t>
            </a:r>
          </a:p>
          <a:p>
            <a:pPr algn="just">
              <a:lnSpc>
                <a:spcPts val="3754"/>
              </a:lnSpc>
            </a:pPr>
          </a:p>
          <a:p>
            <a:pPr algn="just">
              <a:lnSpc>
                <a:spcPts val="3754"/>
              </a:lnSpc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3 — Conditional GAN Training</a:t>
            </a:r>
          </a:p>
          <a:p>
            <a:pPr algn="just" marL="675561" indent="-337780" lvl="1">
              <a:lnSpc>
                <a:spcPts val="3754"/>
              </a:lnSpc>
              <a:buFont typeface="Arial"/>
              <a:buChar char="•"/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Attribute conditioning added</a:t>
            </a:r>
          </a:p>
          <a:p>
            <a:pPr algn="just">
              <a:lnSpc>
                <a:spcPts val="3754"/>
              </a:lnSpc>
            </a:pPr>
          </a:p>
          <a:p>
            <a:pPr algn="just">
              <a:lnSpc>
                <a:spcPts val="3754"/>
              </a:lnSpc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4 — Inference Demo</a:t>
            </a:r>
          </a:p>
          <a:p>
            <a:pPr algn="just" marL="675561" indent="-337780" lvl="1">
              <a:lnSpc>
                <a:spcPts val="3754"/>
              </a:lnSpc>
              <a:buFont typeface="Arial"/>
              <a:buChar char="•"/>
            </a:pPr>
            <a:r>
              <a:rPr lang="en-US" b="true" sz="31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Attribute → Generated Face</a:t>
            </a:r>
          </a:p>
          <a:p>
            <a:pPr algn="just">
              <a:lnSpc>
                <a:spcPts val="3754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5452343" y="4819156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8" y="0"/>
                </a:lnTo>
                <a:lnTo>
                  <a:pt x="1868198" y="618203"/>
                </a:lnTo>
                <a:lnTo>
                  <a:pt x="0" y="618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967459" y="4819156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8" y="0"/>
                </a:lnTo>
                <a:lnTo>
                  <a:pt x="1868198" y="618203"/>
                </a:lnTo>
                <a:lnTo>
                  <a:pt x="0" y="618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588378" y="8688219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8688219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62454" y="3571466"/>
            <a:ext cx="5051790" cy="7861360"/>
          </a:xfrm>
          <a:custGeom>
            <a:avLst/>
            <a:gdLst/>
            <a:ahLst/>
            <a:cxnLst/>
            <a:rect r="r" b="b" t="t" l="l"/>
            <a:pathLst>
              <a:path h="7861360" w="5051790">
                <a:moveTo>
                  <a:pt x="0" y="0"/>
                </a:moveTo>
                <a:lnTo>
                  <a:pt x="5051790" y="0"/>
                </a:lnTo>
                <a:lnTo>
                  <a:pt x="5051790" y="7861360"/>
                </a:lnTo>
                <a:lnTo>
                  <a:pt x="0" y="786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626244" y="-1145826"/>
            <a:ext cx="5051790" cy="7861360"/>
          </a:xfrm>
          <a:custGeom>
            <a:avLst/>
            <a:gdLst/>
            <a:ahLst/>
            <a:cxnLst/>
            <a:rect r="r" b="b" t="t" l="l"/>
            <a:pathLst>
              <a:path h="7861360" w="5051790">
                <a:moveTo>
                  <a:pt x="5051790" y="7861360"/>
                </a:moveTo>
                <a:lnTo>
                  <a:pt x="0" y="7861360"/>
                </a:lnTo>
                <a:lnTo>
                  <a:pt x="0" y="0"/>
                </a:lnTo>
                <a:lnTo>
                  <a:pt x="5051790" y="0"/>
                </a:lnTo>
                <a:lnTo>
                  <a:pt x="5051790" y="78613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09901" y="1449968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8" y="0"/>
                </a:lnTo>
                <a:lnTo>
                  <a:pt x="1868198" y="618203"/>
                </a:lnTo>
                <a:lnTo>
                  <a:pt x="0" y="618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25278" y="913053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47307" y="-154107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02867" y="4476115"/>
            <a:ext cx="6867330" cy="329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0"/>
              </a:lnSpc>
              <a:spcBef>
                <a:spcPct val="0"/>
              </a:spcBef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Baseline DCGAN:</a:t>
            </a:r>
          </a:p>
          <a:p>
            <a:pPr algn="l" marL="664756" indent="-332378" lvl="1">
              <a:lnSpc>
                <a:spcPts val="43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Epochs → 5 to 10</a:t>
            </a:r>
          </a:p>
          <a:p>
            <a:pPr algn="l">
              <a:lnSpc>
                <a:spcPts val="4310"/>
              </a:lnSpc>
              <a:spcBef>
                <a:spcPct val="0"/>
              </a:spcBef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Conditional GAN:</a:t>
            </a:r>
          </a:p>
          <a:p>
            <a:pPr algn="l" marL="664756" indent="-332378" lvl="1">
              <a:lnSpc>
                <a:spcPts val="43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Epochs → 10 to 20</a:t>
            </a:r>
          </a:p>
          <a:p>
            <a:pPr algn="l">
              <a:lnSpc>
                <a:spcPts val="4310"/>
              </a:lnSpc>
              <a:spcBef>
                <a:spcPct val="0"/>
              </a:spcBef>
            </a:pPr>
          </a:p>
          <a:p>
            <a:pPr algn="l">
              <a:lnSpc>
                <a:spcPts val="431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43429" y="2151337"/>
            <a:ext cx="465281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aining Setup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69836" y="4476115"/>
            <a:ext cx="6867330" cy="438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0"/>
              </a:lnSpc>
              <a:spcBef>
                <a:spcPct val="0"/>
              </a:spcBef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</a:t>
            </a: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 Monitoring</a:t>
            </a:r>
          </a:p>
          <a:p>
            <a:pPr algn="l" marL="664756" indent="-332378" lvl="1">
              <a:lnSpc>
                <a:spcPts val="43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Generator Loss</a:t>
            </a:r>
          </a:p>
          <a:p>
            <a:pPr algn="l" marL="664756" indent="-332378" lvl="1">
              <a:lnSpc>
                <a:spcPts val="43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Discriminator Loss</a:t>
            </a:r>
          </a:p>
          <a:p>
            <a:pPr algn="l">
              <a:lnSpc>
                <a:spcPts val="4310"/>
              </a:lnSpc>
              <a:spcBef>
                <a:spcPct val="0"/>
              </a:spcBef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Stabilization Techniques</a:t>
            </a:r>
          </a:p>
          <a:p>
            <a:pPr algn="l" marL="664756" indent="-332378" lvl="1">
              <a:lnSpc>
                <a:spcPts val="43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Lear</a:t>
            </a: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ning rate tuning</a:t>
            </a:r>
          </a:p>
          <a:p>
            <a:pPr algn="l" marL="664756" indent="-332378" lvl="1">
              <a:lnSpc>
                <a:spcPts val="43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Label smoothing</a:t>
            </a:r>
          </a:p>
          <a:p>
            <a:pPr algn="l" marL="664756" indent="-332378" lvl="1">
              <a:lnSpc>
                <a:spcPts val="43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Batch size tuning</a:t>
            </a:r>
          </a:p>
          <a:p>
            <a:pPr algn="l">
              <a:lnSpc>
                <a:spcPts val="43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206562" y="6465542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3589309" y="5585516"/>
                </a:moveTo>
                <a:lnTo>
                  <a:pt x="0" y="5585516"/>
                </a:lnTo>
                <a:lnTo>
                  <a:pt x="0" y="0"/>
                </a:lnTo>
                <a:lnTo>
                  <a:pt x="3589309" y="0"/>
                </a:lnTo>
                <a:lnTo>
                  <a:pt x="3589309" y="55855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4492129" y="6465542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3589309" y="0"/>
                </a:moveTo>
                <a:lnTo>
                  <a:pt x="0" y="0"/>
                </a:lnTo>
                <a:lnTo>
                  <a:pt x="0" y="5585516"/>
                </a:lnTo>
                <a:lnTo>
                  <a:pt x="3589309" y="5585516"/>
                </a:lnTo>
                <a:lnTo>
                  <a:pt x="35893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93974" y="3806079"/>
            <a:ext cx="10155768" cy="478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0"/>
              </a:lnSpc>
            </a:pPr>
          </a:p>
          <a:p>
            <a:pPr algn="just">
              <a:lnSpc>
                <a:spcPts val="3770"/>
              </a:lnSpc>
            </a:pPr>
            <a:r>
              <a:rPr lang="en-US" sz="2693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Successfully Learned</a:t>
            </a:r>
          </a:p>
          <a:p>
            <a:pPr algn="just">
              <a:lnSpc>
                <a:spcPts val="3770"/>
              </a:lnSpc>
            </a:pPr>
            <a:r>
              <a:rPr lang="en-US" sz="2693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✔ Facial structure generation</a:t>
            </a:r>
          </a:p>
          <a:p>
            <a:pPr algn="just">
              <a:lnSpc>
                <a:spcPts val="3770"/>
              </a:lnSpc>
            </a:pPr>
            <a:r>
              <a:rPr lang="en-US" sz="2693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✔ Attribute conditioning</a:t>
            </a:r>
          </a:p>
          <a:p>
            <a:pPr algn="just">
              <a:lnSpc>
                <a:spcPts val="3770"/>
              </a:lnSpc>
            </a:pPr>
            <a:r>
              <a:rPr lang="en-US" sz="2693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✔ Realistic texture patterns</a:t>
            </a:r>
          </a:p>
          <a:p>
            <a:pPr algn="just">
              <a:lnSpc>
                <a:spcPts val="3770"/>
              </a:lnSpc>
            </a:pPr>
            <a:r>
              <a:rPr lang="en-US" sz="2693" b="true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Observations</a:t>
            </a:r>
          </a:p>
          <a:p>
            <a:pPr algn="just" marL="581474" indent="-290737" lvl="1">
              <a:lnSpc>
                <a:spcPts val="3770"/>
              </a:lnSpc>
              <a:buFont typeface="Arial"/>
              <a:buChar char="•"/>
            </a:pPr>
            <a:r>
              <a:rPr lang="en-US" b="true" sz="2693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Smiling attribute learned fastest</a:t>
            </a:r>
          </a:p>
          <a:p>
            <a:pPr algn="just" marL="581474" indent="-290737" lvl="1">
              <a:lnSpc>
                <a:spcPts val="3770"/>
              </a:lnSpc>
              <a:buFont typeface="Arial"/>
              <a:buChar char="•"/>
            </a:pPr>
            <a:r>
              <a:rPr lang="en-US" b="true" sz="2693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Glasses required more epochs</a:t>
            </a:r>
          </a:p>
          <a:p>
            <a:pPr algn="just" marL="581474" indent="-290737" lvl="1">
              <a:lnSpc>
                <a:spcPts val="3770"/>
              </a:lnSpc>
              <a:buFont typeface="Arial"/>
              <a:buChar char="•"/>
            </a:pPr>
            <a:r>
              <a:rPr lang="en-US" b="true" sz="2693">
                <a:solidFill>
                  <a:srgbClr val="D6D6D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Gender separation learned well</a:t>
            </a:r>
          </a:p>
          <a:p>
            <a:pPr algn="just">
              <a:lnSpc>
                <a:spcPts val="377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590162" y="2370406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7" y="0"/>
                </a:lnTo>
                <a:lnTo>
                  <a:pt x="1868197" y="618204"/>
                </a:lnTo>
                <a:lnTo>
                  <a:pt x="0" y="618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29641" y="2370406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7" y="0"/>
                </a:lnTo>
                <a:lnTo>
                  <a:pt x="1868197" y="618204"/>
                </a:lnTo>
                <a:lnTo>
                  <a:pt x="0" y="618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32039" y="1954127"/>
            <a:ext cx="1077225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206562" y="6465542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3589309" y="5585516"/>
                </a:moveTo>
                <a:lnTo>
                  <a:pt x="0" y="5585516"/>
                </a:lnTo>
                <a:lnTo>
                  <a:pt x="0" y="0"/>
                </a:lnTo>
                <a:lnTo>
                  <a:pt x="3589309" y="0"/>
                </a:lnTo>
                <a:lnTo>
                  <a:pt x="3589309" y="55855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4492129" y="6465542"/>
            <a:ext cx="3589309" cy="5585515"/>
          </a:xfrm>
          <a:custGeom>
            <a:avLst/>
            <a:gdLst/>
            <a:ahLst/>
            <a:cxnLst/>
            <a:rect r="r" b="b" t="t" l="l"/>
            <a:pathLst>
              <a:path h="5585515" w="3589309">
                <a:moveTo>
                  <a:pt x="3589309" y="0"/>
                </a:moveTo>
                <a:lnTo>
                  <a:pt x="0" y="0"/>
                </a:lnTo>
                <a:lnTo>
                  <a:pt x="0" y="5585516"/>
                </a:lnTo>
                <a:lnTo>
                  <a:pt x="3589309" y="5585516"/>
                </a:lnTo>
                <a:lnTo>
                  <a:pt x="35893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58359" y="4330596"/>
            <a:ext cx="10641344" cy="2515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9276" indent="-304638" lvl="1">
              <a:lnSpc>
                <a:spcPts val="3950"/>
              </a:lnSpc>
              <a:buFont typeface="Arial"/>
              <a:buChar char="•"/>
            </a:pPr>
            <a:r>
              <a:rPr lang="en-US" sz="2822">
                <a:solidFill>
                  <a:srgbClr val="D6D6D4"/>
                </a:solidFill>
                <a:latin typeface="Poppins"/>
                <a:ea typeface="Poppins"/>
                <a:cs typeface="Poppins"/>
                <a:sym typeface="Poppins"/>
              </a:rPr>
              <a:t>Add more attributes</a:t>
            </a:r>
          </a:p>
          <a:p>
            <a:pPr algn="just" marL="609276" indent="-304638" lvl="1">
              <a:lnSpc>
                <a:spcPts val="3950"/>
              </a:lnSpc>
              <a:buFont typeface="Arial"/>
              <a:buChar char="•"/>
            </a:pPr>
            <a:r>
              <a:rPr lang="en-US" sz="2822">
                <a:solidFill>
                  <a:srgbClr val="D6D6D4"/>
                </a:solidFill>
                <a:latin typeface="Poppins"/>
                <a:ea typeface="Poppins"/>
                <a:cs typeface="Poppins"/>
                <a:sym typeface="Poppins"/>
              </a:rPr>
              <a:t>Use StyleGAN architecture</a:t>
            </a:r>
          </a:p>
          <a:p>
            <a:pPr algn="just" marL="609276" indent="-304638" lvl="1">
              <a:lnSpc>
                <a:spcPts val="3950"/>
              </a:lnSpc>
              <a:buFont typeface="Arial"/>
              <a:buChar char="•"/>
            </a:pPr>
            <a:r>
              <a:rPr lang="en-US" sz="2822">
                <a:solidFill>
                  <a:srgbClr val="D6D6D4"/>
                </a:solidFill>
                <a:latin typeface="Poppins"/>
                <a:ea typeface="Poppins"/>
                <a:cs typeface="Poppins"/>
                <a:sym typeface="Poppins"/>
              </a:rPr>
              <a:t>Add text-to-attribute encoder</a:t>
            </a:r>
          </a:p>
          <a:p>
            <a:pPr algn="just" marL="609276" indent="-304638" lvl="1">
              <a:lnSpc>
                <a:spcPts val="3950"/>
              </a:lnSpc>
              <a:buFont typeface="Arial"/>
              <a:buChar char="•"/>
            </a:pPr>
            <a:r>
              <a:rPr lang="en-US" sz="2822">
                <a:solidFill>
                  <a:srgbClr val="D6D6D4"/>
                </a:solidFill>
                <a:latin typeface="Poppins"/>
                <a:ea typeface="Poppins"/>
                <a:cs typeface="Poppins"/>
                <a:sym typeface="Poppins"/>
              </a:rPr>
              <a:t>High</a:t>
            </a:r>
            <a:r>
              <a:rPr lang="en-US" sz="2822">
                <a:solidFill>
                  <a:srgbClr val="D6D6D4"/>
                </a:solidFill>
                <a:latin typeface="Poppins"/>
                <a:ea typeface="Poppins"/>
                <a:cs typeface="Poppins"/>
                <a:sym typeface="Poppins"/>
              </a:rPr>
              <a:t>er resolution generation (128×128 / 256×256)</a:t>
            </a:r>
          </a:p>
          <a:p>
            <a:pPr algn="just">
              <a:lnSpc>
                <a:spcPts val="395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590162" y="2370406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7" y="0"/>
                </a:lnTo>
                <a:lnTo>
                  <a:pt x="1868197" y="618204"/>
                </a:lnTo>
                <a:lnTo>
                  <a:pt x="0" y="618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29641" y="2370406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7" y="0"/>
                </a:lnTo>
                <a:lnTo>
                  <a:pt x="1868197" y="618204"/>
                </a:lnTo>
                <a:lnTo>
                  <a:pt x="0" y="618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56345" y="2370406"/>
            <a:ext cx="897531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8"/>
              </a:lnSpc>
            </a:pPr>
            <a:r>
              <a:rPr lang="en-US" sz="5365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2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7076" y="2920911"/>
            <a:ext cx="13193847" cy="592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57"/>
              </a:lnSpc>
            </a:pPr>
            <a:r>
              <a:rPr lang="en-US" sz="22757">
                <a:solidFill>
                  <a:srgbClr val="D6D6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</a:t>
            </a:r>
            <a:r>
              <a:rPr lang="en-US" sz="22757">
                <a:solidFill>
                  <a:srgbClr val="97517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862454" y="3571466"/>
            <a:ext cx="5051790" cy="7861360"/>
          </a:xfrm>
          <a:custGeom>
            <a:avLst/>
            <a:gdLst/>
            <a:ahLst/>
            <a:cxnLst/>
            <a:rect r="r" b="b" t="t" l="l"/>
            <a:pathLst>
              <a:path h="7861360" w="5051790">
                <a:moveTo>
                  <a:pt x="0" y="0"/>
                </a:moveTo>
                <a:lnTo>
                  <a:pt x="5051790" y="0"/>
                </a:lnTo>
                <a:lnTo>
                  <a:pt x="5051790" y="7861360"/>
                </a:lnTo>
                <a:lnTo>
                  <a:pt x="0" y="786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26244" y="-1145826"/>
            <a:ext cx="5051790" cy="7861360"/>
          </a:xfrm>
          <a:custGeom>
            <a:avLst/>
            <a:gdLst/>
            <a:ahLst/>
            <a:cxnLst/>
            <a:rect r="r" b="b" t="t" l="l"/>
            <a:pathLst>
              <a:path h="7861360" w="5051790">
                <a:moveTo>
                  <a:pt x="5051790" y="7861360"/>
                </a:moveTo>
                <a:lnTo>
                  <a:pt x="0" y="7861360"/>
                </a:lnTo>
                <a:lnTo>
                  <a:pt x="0" y="0"/>
                </a:lnTo>
                <a:lnTo>
                  <a:pt x="5051790" y="0"/>
                </a:lnTo>
                <a:lnTo>
                  <a:pt x="5051790" y="78613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09901" y="8842464"/>
            <a:ext cx="1868198" cy="618204"/>
          </a:xfrm>
          <a:custGeom>
            <a:avLst/>
            <a:gdLst/>
            <a:ahLst/>
            <a:cxnLst/>
            <a:rect r="r" b="b" t="t" l="l"/>
            <a:pathLst>
              <a:path h="618204" w="1868198">
                <a:moveTo>
                  <a:pt x="0" y="0"/>
                </a:moveTo>
                <a:lnTo>
                  <a:pt x="1868198" y="0"/>
                </a:lnTo>
                <a:lnTo>
                  <a:pt x="1868198" y="618204"/>
                </a:lnTo>
                <a:lnTo>
                  <a:pt x="0" y="618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25278" y="913053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47307" y="-1541077"/>
            <a:ext cx="2617078" cy="2617078"/>
          </a:xfrm>
          <a:custGeom>
            <a:avLst/>
            <a:gdLst/>
            <a:ahLst/>
            <a:cxnLst/>
            <a:rect r="r" b="b" t="t" l="l"/>
            <a:pathLst>
              <a:path h="2617078" w="2617078">
                <a:moveTo>
                  <a:pt x="0" y="0"/>
                </a:moveTo>
                <a:lnTo>
                  <a:pt x="2617078" y="0"/>
                </a:lnTo>
                <a:lnTo>
                  <a:pt x="2617078" y="2617078"/>
                </a:lnTo>
                <a:lnTo>
                  <a:pt x="0" y="2617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DAHA2QKUhl8</dc:identifier>
  <dcterms:modified xsi:type="dcterms:W3CDTF">2011-08-01T06:04:30Z</dcterms:modified>
  <cp:revision>1</cp:revision>
  <dc:title>Gray Purple and Blue Illustration AI in the World of Energy Presentation</dc:title>
</cp:coreProperties>
</file>
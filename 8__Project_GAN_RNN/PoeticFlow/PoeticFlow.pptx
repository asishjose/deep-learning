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TT Norms Bold" charset="1" panose="02000803030000020004"/>
      <p:regular r:id="rId17"/>
    </p:embeddedFont>
    <p:embeddedFont>
      <p:font typeface="DM Sans" charset="1" panose="00000000000000000000"/>
      <p:regular r:id="rId18"/>
    </p:embeddedFont>
    <p:embeddedFont>
      <p:font typeface="Canva Sans" charset="1" panose="020B0503030501040103"/>
      <p:regular r:id="rId19"/>
    </p:embeddedFont>
    <p:embeddedFont>
      <p:font typeface="DM Sans Bold" charset="1" panose="00000000000000000000"/>
      <p:regular r:id="rId20"/>
    </p:embeddedFont>
    <p:embeddedFont>
      <p:font typeface="DM Sans Italics" charset="1" panose="00000000000000000000"/>
      <p:regular r:id="rId21"/>
    </p:embeddedFont>
    <p:embeddedFont>
      <p:font typeface="Canva Sans Bold" charset="1" panose="020B0803030501040103"/>
      <p:regular r:id="rId22"/>
    </p:embeddedFont>
    <p:embeddedFont>
      <p:font typeface="Canva Sans Italics" charset="1" panose="020B0503030501040103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E29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678978" y="3391576"/>
            <a:ext cx="12930043" cy="3503848"/>
            <a:chOff x="0" y="0"/>
            <a:chExt cx="3405443" cy="92282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05443" cy="922824"/>
            </a:xfrm>
            <a:custGeom>
              <a:avLst/>
              <a:gdLst/>
              <a:ahLst/>
              <a:cxnLst/>
              <a:rect r="r" b="b" t="t" l="l"/>
              <a:pathLst>
                <a:path h="922824" w="3405443">
                  <a:moveTo>
                    <a:pt x="16166" y="0"/>
                  </a:moveTo>
                  <a:lnTo>
                    <a:pt x="3389277" y="0"/>
                  </a:lnTo>
                  <a:cubicBezTo>
                    <a:pt x="3398205" y="0"/>
                    <a:pt x="3405443" y="7238"/>
                    <a:pt x="3405443" y="16166"/>
                  </a:cubicBezTo>
                  <a:lnTo>
                    <a:pt x="3405443" y="906658"/>
                  </a:lnTo>
                  <a:cubicBezTo>
                    <a:pt x="3405443" y="910945"/>
                    <a:pt x="3403740" y="915057"/>
                    <a:pt x="3400708" y="918089"/>
                  </a:cubicBezTo>
                  <a:cubicBezTo>
                    <a:pt x="3397676" y="921121"/>
                    <a:pt x="3393565" y="922824"/>
                    <a:pt x="3389277" y="922824"/>
                  </a:cubicBezTo>
                  <a:lnTo>
                    <a:pt x="16166" y="922824"/>
                  </a:lnTo>
                  <a:cubicBezTo>
                    <a:pt x="7238" y="922824"/>
                    <a:pt x="0" y="915586"/>
                    <a:pt x="0" y="906658"/>
                  </a:cubicBezTo>
                  <a:lnTo>
                    <a:pt x="0" y="16166"/>
                  </a:lnTo>
                  <a:cubicBezTo>
                    <a:pt x="0" y="7238"/>
                    <a:pt x="7238" y="0"/>
                    <a:pt x="16166" y="0"/>
                  </a:cubicBezTo>
                  <a:close/>
                </a:path>
              </a:pathLst>
            </a:custGeom>
            <a:solidFill>
              <a:srgbClr val="FFFDF9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405443" cy="9609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124449" y="4274503"/>
            <a:ext cx="12039101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PoeticFlow</a:t>
            </a:r>
          </a:p>
        </p:txBody>
      </p:sp>
      <p:grpSp>
        <p:nvGrpSpPr>
          <p:cNvPr name="Group 6" id="6"/>
          <p:cNvGrpSpPr/>
          <p:nvPr/>
        </p:nvGrpSpPr>
        <p:grpSpPr>
          <a:xfrm rot="-1396855">
            <a:off x="-1172537" y="7417796"/>
            <a:ext cx="3329143" cy="332914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23042" y="124802"/>
                  </a:lnTo>
                  <a:lnTo>
                    <a:pt x="693768" y="119032"/>
                  </a:lnTo>
                  <a:lnTo>
                    <a:pt x="687998" y="289758"/>
                  </a:lnTo>
                  <a:lnTo>
                    <a:pt x="812800" y="406400"/>
                  </a:lnTo>
                  <a:lnTo>
                    <a:pt x="687998" y="523042"/>
                  </a:lnTo>
                  <a:lnTo>
                    <a:pt x="693768" y="693768"/>
                  </a:lnTo>
                  <a:lnTo>
                    <a:pt x="523042" y="687998"/>
                  </a:lnTo>
                  <a:lnTo>
                    <a:pt x="406400" y="812800"/>
                  </a:lnTo>
                  <a:lnTo>
                    <a:pt x="289758" y="687998"/>
                  </a:lnTo>
                  <a:lnTo>
                    <a:pt x="119032" y="693768"/>
                  </a:lnTo>
                  <a:lnTo>
                    <a:pt x="124802" y="523042"/>
                  </a:lnTo>
                  <a:lnTo>
                    <a:pt x="0" y="406400"/>
                  </a:lnTo>
                  <a:lnTo>
                    <a:pt x="124802" y="289758"/>
                  </a:lnTo>
                  <a:lnTo>
                    <a:pt x="119032" y="119032"/>
                  </a:lnTo>
                  <a:lnTo>
                    <a:pt x="289758" y="124802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189B9"/>
            </a:solidFill>
            <a:ln w="19050" cap="sq">
              <a:solidFill>
                <a:srgbClr val="000001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27000" y="136525"/>
              <a:ext cx="558800" cy="549275"/>
            </a:xfrm>
            <a:prstGeom prst="rect">
              <a:avLst/>
            </a:prstGeom>
          </p:spPr>
          <p:txBody>
            <a:bodyPr anchor="ctr" rtlCol="false" tIns="24208" lIns="24208" bIns="24208" rIns="24208"/>
            <a:lstStyle/>
            <a:p>
              <a:pPr algn="ctr" marL="0" indent="0" lvl="0">
                <a:lnSpc>
                  <a:spcPts val="831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1276713">
            <a:off x="16675587" y="5728505"/>
            <a:ext cx="797006" cy="684927"/>
            <a:chOff x="0" y="0"/>
            <a:chExt cx="812800" cy="6985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1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114300" y="9525"/>
              <a:ext cx="584200" cy="688975"/>
            </a:xfrm>
            <a:prstGeom prst="rect">
              <a:avLst/>
            </a:prstGeom>
          </p:spPr>
          <p:txBody>
            <a:bodyPr anchor="ctr" rtlCol="false" tIns="27432" lIns="27432" bIns="27432" rIns="27432"/>
            <a:lstStyle/>
            <a:p>
              <a:pPr algn="ctr" marL="0" indent="0" lvl="0">
                <a:lnSpc>
                  <a:spcPts val="831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-1456953">
            <a:off x="16180618" y="901910"/>
            <a:ext cx="2834829" cy="3239805"/>
            <a:chOff x="0" y="0"/>
            <a:chExt cx="7112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11200" cy="812800"/>
            </a:xfrm>
            <a:custGeom>
              <a:avLst/>
              <a:gdLst/>
              <a:ahLst/>
              <a:cxnLst/>
              <a:rect r="r" b="b" t="t" l="l"/>
              <a:pathLst>
                <a:path h="812800" w="711200">
                  <a:moveTo>
                    <a:pt x="355600" y="0"/>
                  </a:moveTo>
                  <a:lnTo>
                    <a:pt x="499725" y="159329"/>
                  </a:lnTo>
                  <a:lnTo>
                    <a:pt x="711200" y="203200"/>
                  </a:lnTo>
                  <a:lnTo>
                    <a:pt x="643849" y="406400"/>
                  </a:lnTo>
                  <a:lnTo>
                    <a:pt x="711200" y="609600"/>
                  </a:lnTo>
                  <a:lnTo>
                    <a:pt x="499725" y="653471"/>
                  </a:lnTo>
                  <a:lnTo>
                    <a:pt x="355600" y="812800"/>
                  </a:lnTo>
                  <a:lnTo>
                    <a:pt x="211475" y="653471"/>
                  </a:lnTo>
                  <a:lnTo>
                    <a:pt x="0" y="609600"/>
                  </a:lnTo>
                  <a:lnTo>
                    <a:pt x="67351" y="406400"/>
                  </a:lnTo>
                  <a:lnTo>
                    <a:pt x="0" y="203200"/>
                  </a:lnTo>
                  <a:lnTo>
                    <a:pt x="211475" y="159329"/>
                  </a:lnTo>
                  <a:lnTo>
                    <a:pt x="355600" y="0"/>
                  </a:lnTo>
                  <a:close/>
                </a:path>
              </a:pathLst>
            </a:custGeom>
            <a:solidFill>
              <a:srgbClr val="69BFA5"/>
            </a:solidFill>
            <a:ln w="19050" cap="sq">
              <a:solidFill>
                <a:srgbClr val="000001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88900" y="174625"/>
              <a:ext cx="533400" cy="473075"/>
            </a:xfrm>
            <a:prstGeom prst="rect">
              <a:avLst/>
            </a:prstGeom>
          </p:spPr>
          <p:txBody>
            <a:bodyPr anchor="ctr" rtlCol="false" tIns="24208" lIns="24208" bIns="24208" rIns="24208"/>
            <a:lstStyle/>
            <a:p>
              <a:pPr algn="ctr" marL="0" indent="0" lvl="0">
                <a:lnSpc>
                  <a:spcPts val="831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-1396855">
            <a:off x="4071780" y="322690"/>
            <a:ext cx="2056545" cy="2056545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310462"/>
                  </a:lnTo>
                  <a:lnTo>
                    <a:pt x="657569" y="812800"/>
                  </a:lnTo>
                  <a:lnTo>
                    <a:pt x="155231" y="812800"/>
                  </a:lnTo>
                  <a:lnTo>
                    <a:pt x="0" y="310462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69BFA5"/>
            </a:solidFill>
            <a:ln w="19050" cap="sq">
              <a:solidFill>
                <a:srgbClr val="000001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127000" y="212725"/>
              <a:ext cx="558800" cy="549275"/>
            </a:xfrm>
            <a:prstGeom prst="rect">
              <a:avLst/>
            </a:prstGeom>
          </p:spPr>
          <p:txBody>
            <a:bodyPr anchor="ctr" rtlCol="false" tIns="24208" lIns="24208" bIns="24208" rIns="24208"/>
            <a:lstStyle/>
            <a:p>
              <a:pPr algn="ctr" marL="0" indent="0" lvl="0">
                <a:lnSpc>
                  <a:spcPts val="831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660254">
            <a:off x="6027433" y="7625538"/>
            <a:ext cx="2213396" cy="2213396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69BFA5"/>
            </a:solidFill>
            <a:ln w="19050" cap="sq">
              <a:solidFill>
                <a:srgbClr val="000001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190500" y="200025"/>
              <a:ext cx="431800" cy="422275"/>
            </a:xfrm>
            <a:prstGeom prst="rect">
              <a:avLst/>
            </a:prstGeom>
          </p:spPr>
          <p:txBody>
            <a:bodyPr anchor="ctr" rtlCol="false" tIns="24208" lIns="24208" bIns="24208" rIns="24208"/>
            <a:lstStyle/>
            <a:p>
              <a:pPr algn="ctr" marL="0" indent="0" lvl="0">
                <a:lnSpc>
                  <a:spcPts val="831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-1396855">
            <a:off x="11458462" y="322690"/>
            <a:ext cx="2056545" cy="2056545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189B9"/>
            </a:solidFill>
            <a:ln w="19050" cap="sq">
              <a:solidFill>
                <a:srgbClr val="000001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190500" y="200025"/>
              <a:ext cx="431800" cy="422275"/>
            </a:xfrm>
            <a:prstGeom prst="rect">
              <a:avLst/>
            </a:prstGeom>
          </p:spPr>
          <p:txBody>
            <a:bodyPr anchor="ctr" rtlCol="false" tIns="24208" lIns="24208" bIns="24208" rIns="24208"/>
            <a:lstStyle/>
            <a:p>
              <a:pPr algn="ctr" marL="0" indent="0" lvl="0">
                <a:lnSpc>
                  <a:spcPts val="831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-1276713">
            <a:off x="804621" y="4801037"/>
            <a:ext cx="797006" cy="684927"/>
            <a:chOff x="0" y="0"/>
            <a:chExt cx="812800" cy="6985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1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114300" y="9525"/>
              <a:ext cx="584200" cy="688975"/>
            </a:xfrm>
            <a:prstGeom prst="rect">
              <a:avLst/>
            </a:prstGeom>
          </p:spPr>
          <p:txBody>
            <a:bodyPr anchor="ctr" rtlCol="false" tIns="27432" lIns="27432" bIns="27432" rIns="27432"/>
            <a:lstStyle/>
            <a:p>
              <a:pPr algn="ctr" marL="0" indent="0" lvl="0">
                <a:lnSpc>
                  <a:spcPts val="831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-1276713">
            <a:off x="8249881" y="1715615"/>
            <a:ext cx="797006" cy="684927"/>
            <a:chOff x="0" y="0"/>
            <a:chExt cx="812800" cy="6985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1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114300" y="9525"/>
              <a:ext cx="584200" cy="688975"/>
            </a:xfrm>
            <a:prstGeom prst="rect">
              <a:avLst/>
            </a:prstGeom>
          </p:spPr>
          <p:txBody>
            <a:bodyPr anchor="ctr" rtlCol="false" tIns="27432" lIns="27432" bIns="27432" rIns="27432"/>
            <a:lstStyle/>
            <a:p>
              <a:pPr algn="ctr" marL="0" indent="0" lvl="0">
                <a:lnSpc>
                  <a:spcPts val="831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924514">
            <a:off x="12809424" y="7974964"/>
            <a:ext cx="2056545" cy="1542409"/>
            <a:chOff x="0" y="0"/>
            <a:chExt cx="812800" cy="6096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609600"/>
            </a:xfrm>
            <a:custGeom>
              <a:avLst/>
              <a:gdLst/>
              <a:ahLst/>
              <a:cxnLst/>
              <a:rect r="r" b="b" t="t" l="l"/>
              <a:pathLst>
                <a:path h="609600" w="812800">
                  <a:moveTo>
                    <a:pt x="203200" y="0"/>
                  </a:moveTo>
                  <a:lnTo>
                    <a:pt x="609600" y="0"/>
                  </a:lnTo>
                  <a:lnTo>
                    <a:pt x="81280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189B9"/>
            </a:solidFill>
            <a:ln w="19050" cap="sq">
              <a:solidFill>
                <a:srgbClr val="000001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127000" y="9525"/>
              <a:ext cx="558800" cy="600075"/>
            </a:xfrm>
            <a:prstGeom prst="rect">
              <a:avLst/>
            </a:prstGeom>
          </p:spPr>
          <p:txBody>
            <a:bodyPr anchor="ctr" rtlCol="false" tIns="24208" lIns="24208" bIns="24208" rIns="24208"/>
            <a:lstStyle/>
            <a:p>
              <a:pPr algn="ctr" marL="0" indent="0" lvl="0">
                <a:lnSpc>
                  <a:spcPts val="831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-1276713">
            <a:off x="10251931" y="8160067"/>
            <a:ext cx="797006" cy="684927"/>
            <a:chOff x="0" y="0"/>
            <a:chExt cx="812800" cy="6985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1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114300" y="9525"/>
              <a:ext cx="584200" cy="688975"/>
            </a:xfrm>
            <a:prstGeom prst="rect">
              <a:avLst/>
            </a:prstGeom>
          </p:spPr>
          <p:txBody>
            <a:bodyPr anchor="ctr" rtlCol="false" tIns="27432" lIns="27432" bIns="27432" rIns="27432"/>
            <a:lstStyle/>
            <a:p>
              <a:pPr algn="ctr" marL="0" indent="0" lvl="0">
                <a:lnSpc>
                  <a:spcPts val="831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926724">
            <a:off x="16732814" y="8667649"/>
            <a:ext cx="682552" cy="597233"/>
            <a:chOff x="0" y="0"/>
            <a:chExt cx="812800" cy="7112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9520" y="13165"/>
              <a:ext cx="793759" cy="698035"/>
            </a:xfrm>
            <a:custGeom>
              <a:avLst/>
              <a:gdLst/>
              <a:ahLst/>
              <a:cxnLst/>
              <a:rect r="r" b="b" t="t" l="l"/>
              <a:pathLst>
                <a:path h="698035" w="793759">
                  <a:moveTo>
                    <a:pt x="408135" y="6531"/>
                  </a:moveTo>
                  <a:lnTo>
                    <a:pt x="792025" y="678339"/>
                  </a:lnTo>
                  <a:cubicBezTo>
                    <a:pt x="794353" y="682413"/>
                    <a:pt x="794337" y="687419"/>
                    <a:pt x="791981" y="691478"/>
                  </a:cubicBezTo>
                  <a:cubicBezTo>
                    <a:pt x="789626" y="695537"/>
                    <a:pt x="785288" y="698035"/>
                    <a:pt x="780595" y="698035"/>
                  </a:cubicBezTo>
                  <a:lnTo>
                    <a:pt x="13165" y="698035"/>
                  </a:lnTo>
                  <a:cubicBezTo>
                    <a:pt x="8472" y="698035"/>
                    <a:pt x="4134" y="695537"/>
                    <a:pt x="1779" y="691478"/>
                  </a:cubicBezTo>
                  <a:cubicBezTo>
                    <a:pt x="-577" y="687419"/>
                    <a:pt x="-593" y="682413"/>
                    <a:pt x="1735" y="678339"/>
                  </a:cubicBezTo>
                  <a:lnTo>
                    <a:pt x="385625" y="6531"/>
                  </a:lnTo>
                  <a:cubicBezTo>
                    <a:pt x="387933" y="2492"/>
                    <a:pt x="392228" y="0"/>
                    <a:pt x="396880" y="0"/>
                  </a:cubicBezTo>
                  <a:cubicBezTo>
                    <a:pt x="401532" y="0"/>
                    <a:pt x="405827" y="2492"/>
                    <a:pt x="408135" y="6531"/>
                  </a:cubicBezTo>
                  <a:close/>
                </a:path>
              </a:pathLst>
            </a:custGeom>
            <a:solidFill>
              <a:srgbClr val="52A5CD"/>
            </a:solidFill>
            <a:ln w="19050" cap="sq">
              <a:solidFill>
                <a:srgbClr val="000001"/>
              </a:solidFill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127000" y="339725"/>
              <a:ext cx="558800" cy="320675"/>
            </a:xfrm>
            <a:prstGeom prst="rect">
              <a:avLst/>
            </a:prstGeom>
          </p:spPr>
          <p:txBody>
            <a:bodyPr anchor="ctr" rtlCol="false" tIns="24208" lIns="24208" bIns="24208" rIns="24208"/>
            <a:lstStyle/>
            <a:p>
              <a:pPr algn="ctr" marL="0" indent="0" lvl="0">
                <a:lnSpc>
                  <a:spcPts val="831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-1367090">
            <a:off x="1177299" y="1137564"/>
            <a:ext cx="682552" cy="597233"/>
            <a:chOff x="0" y="0"/>
            <a:chExt cx="812800" cy="7112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9520" y="13165"/>
              <a:ext cx="793759" cy="698035"/>
            </a:xfrm>
            <a:custGeom>
              <a:avLst/>
              <a:gdLst/>
              <a:ahLst/>
              <a:cxnLst/>
              <a:rect r="r" b="b" t="t" l="l"/>
              <a:pathLst>
                <a:path h="698035" w="793759">
                  <a:moveTo>
                    <a:pt x="408135" y="6531"/>
                  </a:moveTo>
                  <a:lnTo>
                    <a:pt x="792025" y="678339"/>
                  </a:lnTo>
                  <a:cubicBezTo>
                    <a:pt x="794353" y="682413"/>
                    <a:pt x="794337" y="687419"/>
                    <a:pt x="791981" y="691478"/>
                  </a:cubicBezTo>
                  <a:cubicBezTo>
                    <a:pt x="789626" y="695537"/>
                    <a:pt x="785288" y="698035"/>
                    <a:pt x="780595" y="698035"/>
                  </a:cubicBezTo>
                  <a:lnTo>
                    <a:pt x="13165" y="698035"/>
                  </a:lnTo>
                  <a:cubicBezTo>
                    <a:pt x="8472" y="698035"/>
                    <a:pt x="4134" y="695537"/>
                    <a:pt x="1779" y="691478"/>
                  </a:cubicBezTo>
                  <a:cubicBezTo>
                    <a:pt x="-577" y="687419"/>
                    <a:pt x="-593" y="682413"/>
                    <a:pt x="1735" y="678339"/>
                  </a:cubicBezTo>
                  <a:lnTo>
                    <a:pt x="385625" y="6531"/>
                  </a:lnTo>
                  <a:cubicBezTo>
                    <a:pt x="387933" y="2492"/>
                    <a:pt x="392228" y="0"/>
                    <a:pt x="396880" y="0"/>
                  </a:cubicBezTo>
                  <a:cubicBezTo>
                    <a:pt x="401532" y="0"/>
                    <a:pt x="405827" y="2492"/>
                    <a:pt x="408135" y="6531"/>
                  </a:cubicBezTo>
                  <a:close/>
                </a:path>
              </a:pathLst>
            </a:custGeom>
            <a:solidFill>
              <a:srgbClr val="52A5CD"/>
            </a:solidFill>
            <a:ln w="19050" cap="sq">
              <a:solidFill>
                <a:srgbClr val="000001"/>
              </a:solidFill>
              <a:prstDash val="solid"/>
              <a:miter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127000" y="339725"/>
              <a:ext cx="558800" cy="320675"/>
            </a:xfrm>
            <a:prstGeom prst="rect">
              <a:avLst/>
            </a:prstGeom>
          </p:spPr>
          <p:txBody>
            <a:bodyPr anchor="ctr" rtlCol="false" tIns="24208" lIns="24208" bIns="24208" rIns="24208"/>
            <a:lstStyle/>
            <a:p>
              <a:pPr algn="ctr" marL="0" indent="0" lvl="0">
                <a:lnSpc>
                  <a:spcPts val="831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-2228747">
            <a:off x="3592125" y="8783751"/>
            <a:ext cx="682552" cy="597233"/>
            <a:chOff x="0" y="0"/>
            <a:chExt cx="812800" cy="7112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9520" y="13165"/>
              <a:ext cx="793759" cy="698035"/>
            </a:xfrm>
            <a:custGeom>
              <a:avLst/>
              <a:gdLst/>
              <a:ahLst/>
              <a:cxnLst/>
              <a:rect r="r" b="b" t="t" l="l"/>
              <a:pathLst>
                <a:path h="698035" w="793759">
                  <a:moveTo>
                    <a:pt x="408135" y="6531"/>
                  </a:moveTo>
                  <a:lnTo>
                    <a:pt x="792025" y="678339"/>
                  </a:lnTo>
                  <a:cubicBezTo>
                    <a:pt x="794353" y="682413"/>
                    <a:pt x="794337" y="687419"/>
                    <a:pt x="791981" y="691478"/>
                  </a:cubicBezTo>
                  <a:cubicBezTo>
                    <a:pt x="789626" y="695537"/>
                    <a:pt x="785288" y="698035"/>
                    <a:pt x="780595" y="698035"/>
                  </a:cubicBezTo>
                  <a:lnTo>
                    <a:pt x="13165" y="698035"/>
                  </a:lnTo>
                  <a:cubicBezTo>
                    <a:pt x="8472" y="698035"/>
                    <a:pt x="4134" y="695537"/>
                    <a:pt x="1779" y="691478"/>
                  </a:cubicBezTo>
                  <a:cubicBezTo>
                    <a:pt x="-577" y="687419"/>
                    <a:pt x="-593" y="682413"/>
                    <a:pt x="1735" y="678339"/>
                  </a:cubicBezTo>
                  <a:lnTo>
                    <a:pt x="385625" y="6531"/>
                  </a:lnTo>
                  <a:cubicBezTo>
                    <a:pt x="387933" y="2492"/>
                    <a:pt x="392228" y="0"/>
                    <a:pt x="396880" y="0"/>
                  </a:cubicBezTo>
                  <a:cubicBezTo>
                    <a:pt x="401532" y="0"/>
                    <a:pt x="405827" y="2492"/>
                    <a:pt x="408135" y="6531"/>
                  </a:cubicBezTo>
                  <a:close/>
                </a:path>
              </a:pathLst>
            </a:custGeom>
            <a:solidFill>
              <a:srgbClr val="52A5CD"/>
            </a:solidFill>
            <a:ln w="19050" cap="sq">
              <a:solidFill>
                <a:srgbClr val="000001"/>
              </a:solidFill>
              <a:prstDash val="solid"/>
              <a:miter/>
            </a:ln>
          </p:spPr>
        </p:sp>
        <p:sp>
          <p:nvSpPr>
            <p:cNvPr name="TextBox 44" id="44"/>
            <p:cNvSpPr txBox="true"/>
            <p:nvPr/>
          </p:nvSpPr>
          <p:spPr>
            <a:xfrm>
              <a:off x="127000" y="339725"/>
              <a:ext cx="558800" cy="320675"/>
            </a:xfrm>
            <a:prstGeom prst="rect">
              <a:avLst/>
            </a:prstGeom>
          </p:spPr>
          <p:txBody>
            <a:bodyPr anchor="ctr" rtlCol="false" tIns="24208" lIns="24208" bIns="24208" rIns="24208"/>
            <a:lstStyle/>
            <a:p>
              <a:pPr algn="ctr" marL="0" indent="0" lvl="0">
                <a:lnSpc>
                  <a:spcPts val="831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69BFA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74991" y="1535123"/>
            <a:ext cx="8712172" cy="1930578"/>
            <a:chOff x="0" y="0"/>
            <a:chExt cx="2294564" cy="50846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94564" cy="508465"/>
            </a:xfrm>
            <a:custGeom>
              <a:avLst/>
              <a:gdLst/>
              <a:ahLst/>
              <a:cxnLst/>
              <a:rect r="r" b="b" t="t" l="l"/>
              <a:pathLst>
                <a:path h="508465" w="2294564">
                  <a:moveTo>
                    <a:pt x="23993" y="0"/>
                  </a:moveTo>
                  <a:lnTo>
                    <a:pt x="2270571" y="0"/>
                  </a:lnTo>
                  <a:cubicBezTo>
                    <a:pt x="2276934" y="0"/>
                    <a:pt x="2283037" y="2528"/>
                    <a:pt x="2287536" y="7027"/>
                  </a:cubicBezTo>
                  <a:cubicBezTo>
                    <a:pt x="2292036" y="11527"/>
                    <a:pt x="2294564" y="17630"/>
                    <a:pt x="2294564" y="23993"/>
                  </a:cubicBezTo>
                  <a:lnTo>
                    <a:pt x="2294564" y="484472"/>
                  </a:lnTo>
                  <a:cubicBezTo>
                    <a:pt x="2294564" y="490835"/>
                    <a:pt x="2292036" y="496938"/>
                    <a:pt x="2287536" y="501438"/>
                  </a:cubicBezTo>
                  <a:cubicBezTo>
                    <a:pt x="2283037" y="505937"/>
                    <a:pt x="2276934" y="508465"/>
                    <a:pt x="2270571" y="508465"/>
                  </a:cubicBezTo>
                  <a:lnTo>
                    <a:pt x="23993" y="508465"/>
                  </a:lnTo>
                  <a:cubicBezTo>
                    <a:pt x="17630" y="508465"/>
                    <a:pt x="11527" y="505937"/>
                    <a:pt x="7027" y="501438"/>
                  </a:cubicBezTo>
                  <a:cubicBezTo>
                    <a:pt x="2528" y="496938"/>
                    <a:pt x="0" y="490835"/>
                    <a:pt x="0" y="484472"/>
                  </a:cubicBezTo>
                  <a:lnTo>
                    <a:pt x="0" y="23993"/>
                  </a:lnTo>
                  <a:cubicBezTo>
                    <a:pt x="0" y="17630"/>
                    <a:pt x="2528" y="11527"/>
                    <a:pt x="7027" y="7027"/>
                  </a:cubicBezTo>
                  <a:cubicBezTo>
                    <a:pt x="11527" y="2528"/>
                    <a:pt x="17630" y="0"/>
                    <a:pt x="23993" y="0"/>
                  </a:cubicBezTo>
                  <a:close/>
                </a:path>
              </a:pathLst>
            </a:custGeom>
            <a:solidFill>
              <a:srgbClr val="FFE298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94564" cy="5465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74991" y="2916224"/>
            <a:ext cx="15338018" cy="2713051"/>
            <a:chOff x="0" y="0"/>
            <a:chExt cx="4039643" cy="71454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39643" cy="714548"/>
            </a:xfrm>
            <a:custGeom>
              <a:avLst/>
              <a:gdLst/>
              <a:ahLst/>
              <a:cxnLst/>
              <a:rect r="r" b="b" t="t" l="l"/>
              <a:pathLst>
                <a:path h="714548" w="4039643">
                  <a:moveTo>
                    <a:pt x="5048" y="0"/>
                  </a:moveTo>
                  <a:lnTo>
                    <a:pt x="4034595" y="0"/>
                  </a:lnTo>
                  <a:cubicBezTo>
                    <a:pt x="4035934" y="0"/>
                    <a:pt x="4037218" y="532"/>
                    <a:pt x="4038164" y="1478"/>
                  </a:cubicBezTo>
                  <a:cubicBezTo>
                    <a:pt x="4039111" y="2425"/>
                    <a:pt x="4039643" y="3709"/>
                    <a:pt x="4039643" y="5048"/>
                  </a:cubicBezTo>
                  <a:lnTo>
                    <a:pt x="4039643" y="709501"/>
                  </a:lnTo>
                  <a:cubicBezTo>
                    <a:pt x="4039643" y="710840"/>
                    <a:pt x="4039111" y="712123"/>
                    <a:pt x="4038164" y="713070"/>
                  </a:cubicBezTo>
                  <a:cubicBezTo>
                    <a:pt x="4037218" y="714017"/>
                    <a:pt x="4035934" y="714548"/>
                    <a:pt x="4034595" y="714548"/>
                  </a:cubicBezTo>
                  <a:lnTo>
                    <a:pt x="5048" y="714548"/>
                  </a:lnTo>
                  <a:cubicBezTo>
                    <a:pt x="3709" y="714548"/>
                    <a:pt x="2425" y="714017"/>
                    <a:pt x="1478" y="713070"/>
                  </a:cubicBezTo>
                  <a:cubicBezTo>
                    <a:pt x="532" y="712123"/>
                    <a:pt x="0" y="710840"/>
                    <a:pt x="0" y="709501"/>
                  </a:cubicBezTo>
                  <a:lnTo>
                    <a:pt x="0" y="5048"/>
                  </a:lnTo>
                  <a:cubicBezTo>
                    <a:pt x="0" y="3709"/>
                    <a:pt x="532" y="2425"/>
                    <a:pt x="1478" y="1478"/>
                  </a:cubicBezTo>
                  <a:cubicBezTo>
                    <a:pt x="2425" y="532"/>
                    <a:pt x="3709" y="0"/>
                    <a:pt x="5048" y="0"/>
                  </a:cubicBezTo>
                  <a:close/>
                </a:path>
              </a:pathLst>
            </a:custGeom>
            <a:solidFill>
              <a:srgbClr val="FFFDF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39643" cy="7526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928653" y="1739658"/>
            <a:ext cx="780484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PoeticFlow</a:t>
            </a:r>
          </a:p>
        </p:txBody>
      </p:sp>
      <p:grpSp>
        <p:nvGrpSpPr>
          <p:cNvPr name="Group 9" id="9"/>
          <p:cNvGrpSpPr/>
          <p:nvPr/>
        </p:nvGrpSpPr>
        <p:grpSpPr>
          <a:xfrm rot="-1396855">
            <a:off x="-1103365" y="-1360133"/>
            <a:ext cx="3329143" cy="3329143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23042" y="124802"/>
                  </a:lnTo>
                  <a:lnTo>
                    <a:pt x="693768" y="119032"/>
                  </a:lnTo>
                  <a:lnTo>
                    <a:pt x="687998" y="289758"/>
                  </a:lnTo>
                  <a:lnTo>
                    <a:pt x="812800" y="406400"/>
                  </a:lnTo>
                  <a:lnTo>
                    <a:pt x="687998" y="523042"/>
                  </a:lnTo>
                  <a:lnTo>
                    <a:pt x="693768" y="693768"/>
                  </a:lnTo>
                  <a:lnTo>
                    <a:pt x="523042" y="687998"/>
                  </a:lnTo>
                  <a:lnTo>
                    <a:pt x="406400" y="812800"/>
                  </a:lnTo>
                  <a:lnTo>
                    <a:pt x="289758" y="687998"/>
                  </a:lnTo>
                  <a:lnTo>
                    <a:pt x="119032" y="693768"/>
                  </a:lnTo>
                  <a:lnTo>
                    <a:pt x="124802" y="523042"/>
                  </a:lnTo>
                  <a:lnTo>
                    <a:pt x="0" y="406400"/>
                  </a:lnTo>
                  <a:lnTo>
                    <a:pt x="124802" y="289758"/>
                  </a:lnTo>
                  <a:lnTo>
                    <a:pt x="119032" y="119032"/>
                  </a:lnTo>
                  <a:lnTo>
                    <a:pt x="289758" y="124802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189B9"/>
            </a:solidFill>
            <a:ln w="19050" cap="sq">
              <a:solidFill>
                <a:srgbClr val="000001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127000" y="136525"/>
              <a:ext cx="558800" cy="549275"/>
            </a:xfrm>
            <a:prstGeom prst="rect">
              <a:avLst/>
            </a:prstGeom>
          </p:spPr>
          <p:txBody>
            <a:bodyPr anchor="ctr" rtlCol="false" tIns="24208" lIns="24208" bIns="24208" rIns="24208"/>
            <a:lstStyle/>
            <a:p>
              <a:pPr algn="ctr" marL="0" indent="0" lvl="0">
                <a:lnSpc>
                  <a:spcPts val="831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-1367090">
            <a:off x="209317" y="2371338"/>
            <a:ext cx="703778" cy="615806"/>
            <a:chOff x="0" y="0"/>
            <a:chExt cx="812800" cy="711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9233" y="12768"/>
              <a:ext cx="794333" cy="698432"/>
            </a:xfrm>
            <a:custGeom>
              <a:avLst/>
              <a:gdLst/>
              <a:ahLst/>
              <a:cxnLst/>
              <a:rect r="r" b="b" t="t" l="l"/>
              <a:pathLst>
                <a:path h="698432" w="794333">
                  <a:moveTo>
                    <a:pt x="408083" y="6334"/>
                  </a:moveTo>
                  <a:lnTo>
                    <a:pt x="792651" y="679330"/>
                  </a:lnTo>
                  <a:cubicBezTo>
                    <a:pt x="794910" y="683281"/>
                    <a:pt x="794893" y="688136"/>
                    <a:pt x="792609" y="692073"/>
                  </a:cubicBezTo>
                  <a:cubicBezTo>
                    <a:pt x="790324" y="696009"/>
                    <a:pt x="786117" y="698432"/>
                    <a:pt x="781566" y="698432"/>
                  </a:cubicBezTo>
                  <a:lnTo>
                    <a:pt x="12768" y="698432"/>
                  </a:lnTo>
                  <a:cubicBezTo>
                    <a:pt x="8217" y="698432"/>
                    <a:pt x="4010" y="696009"/>
                    <a:pt x="1725" y="692073"/>
                  </a:cubicBezTo>
                  <a:cubicBezTo>
                    <a:pt x="-559" y="688136"/>
                    <a:pt x="-576" y="683281"/>
                    <a:pt x="1683" y="679330"/>
                  </a:cubicBezTo>
                  <a:lnTo>
                    <a:pt x="386251" y="6334"/>
                  </a:lnTo>
                  <a:cubicBezTo>
                    <a:pt x="388490" y="2417"/>
                    <a:pt x="392655" y="0"/>
                    <a:pt x="397167" y="0"/>
                  </a:cubicBezTo>
                  <a:cubicBezTo>
                    <a:pt x="401679" y="0"/>
                    <a:pt x="405844" y="2417"/>
                    <a:pt x="408083" y="6334"/>
                  </a:cubicBezTo>
                  <a:close/>
                </a:path>
              </a:pathLst>
            </a:custGeom>
            <a:solidFill>
              <a:srgbClr val="FFFDF9"/>
            </a:solidFill>
            <a:ln w="19050" cap="sq">
              <a:solidFill>
                <a:srgbClr val="000001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127000" y="339725"/>
              <a:ext cx="558800" cy="320675"/>
            </a:xfrm>
            <a:prstGeom prst="rect">
              <a:avLst/>
            </a:prstGeom>
          </p:spPr>
          <p:txBody>
            <a:bodyPr anchor="ctr" rtlCol="false" tIns="24208" lIns="24208" bIns="24208" rIns="24208"/>
            <a:lstStyle/>
            <a:p>
              <a:pPr algn="ctr" marL="0" indent="0" lvl="0">
                <a:lnSpc>
                  <a:spcPts val="831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1013998">
            <a:off x="2899131" y="102051"/>
            <a:ext cx="824599" cy="824599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E298"/>
            </a:solidFill>
            <a:ln w="19050" cap="sq">
              <a:solidFill>
                <a:srgbClr val="000001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190500" y="200025"/>
              <a:ext cx="431800" cy="422275"/>
            </a:xfrm>
            <a:prstGeom prst="rect">
              <a:avLst/>
            </a:prstGeom>
          </p:spPr>
          <p:txBody>
            <a:bodyPr anchor="ctr" rtlCol="false" tIns="24208" lIns="24208" bIns="24208" rIns="24208"/>
            <a:lstStyle/>
            <a:p>
              <a:pPr algn="ctr" marL="0" indent="0" lvl="0">
                <a:lnSpc>
                  <a:spcPts val="831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2515167" y="3516293"/>
            <a:ext cx="10827261" cy="1455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Context-Aware Poetry Generation using RNN + Conditioning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474991" y="6248400"/>
            <a:ext cx="7582309" cy="1468813"/>
            <a:chOff x="0" y="0"/>
            <a:chExt cx="1996987" cy="38684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96987" cy="386848"/>
            </a:xfrm>
            <a:custGeom>
              <a:avLst/>
              <a:gdLst/>
              <a:ahLst/>
              <a:cxnLst/>
              <a:rect r="r" b="b" t="t" l="l"/>
              <a:pathLst>
                <a:path h="386848" w="1996987">
                  <a:moveTo>
                    <a:pt x="27568" y="0"/>
                  </a:moveTo>
                  <a:lnTo>
                    <a:pt x="1969419" y="0"/>
                  </a:lnTo>
                  <a:cubicBezTo>
                    <a:pt x="1976730" y="0"/>
                    <a:pt x="1983742" y="2905"/>
                    <a:pt x="1988912" y="8075"/>
                  </a:cubicBezTo>
                  <a:cubicBezTo>
                    <a:pt x="1994082" y="13245"/>
                    <a:pt x="1996987" y="20257"/>
                    <a:pt x="1996987" y="27568"/>
                  </a:cubicBezTo>
                  <a:lnTo>
                    <a:pt x="1996987" y="359279"/>
                  </a:lnTo>
                  <a:cubicBezTo>
                    <a:pt x="1996987" y="366591"/>
                    <a:pt x="1994082" y="373603"/>
                    <a:pt x="1988912" y="378773"/>
                  </a:cubicBezTo>
                  <a:cubicBezTo>
                    <a:pt x="1983742" y="383943"/>
                    <a:pt x="1976730" y="386848"/>
                    <a:pt x="1969419" y="386848"/>
                  </a:cubicBezTo>
                  <a:lnTo>
                    <a:pt x="27568" y="386848"/>
                  </a:lnTo>
                  <a:cubicBezTo>
                    <a:pt x="20257" y="386848"/>
                    <a:pt x="13245" y="383943"/>
                    <a:pt x="8075" y="378773"/>
                  </a:cubicBezTo>
                  <a:cubicBezTo>
                    <a:pt x="2905" y="373603"/>
                    <a:pt x="0" y="366591"/>
                    <a:pt x="0" y="359279"/>
                  </a:cubicBezTo>
                  <a:lnTo>
                    <a:pt x="0" y="27568"/>
                  </a:lnTo>
                  <a:cubicBezTo>
                    <a:pt x="0" y="20257"/>
                    <a:pt x="2905" y="13245"/>
                    <a:pt x="8075" y="8075"/>
                  </a:cubicBezTo>
                  <a:cubicBezTo>
                    <a:pt x="13245" y="2905"/>
                    <a:pt x="20257" y="0"/>
                    <a:pt x="27568" y="0"/>
                  </a:cubicBezTo>
                  <a:close/>
                </a:path>
              </a:pathLst>
            </a:custGeom>
            <a:solidFill>
              <a:srgbClr val="52A5CD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996987" cy="4249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474991" y="7356136"/>
            <a:ext cx="15338018" cy="1629352"/>
            <a:chOff x="0" y="0"/>
            <a:chExt cx="4039643" cy="42913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039643" cy="429130"/>
            </a:xfrm>
            <a:custGeom>
              <a:avLst/>
              <a:gdLst/>
              <a:ahLst/>
              <a:cxnLst/>
              <a:rect r="r" b="b" t="t" l="l"/>
              <a:pathLst>
                <a:path h="429130" w="4039643">
                  <a:moveTo>
                    <a:pt x="5048" y="0"/>
                  </a:moveTo>
                  <a:lnTo>
                    <a:pt x="4034595" y="0"/>
                  </a:lnTo>
                  <a:cubicBezTo>
                    <a:pt x="4035934" y="0"/>
                    <a:pt x="4037218" y="532"/>
                    <a:pt x="4038164" y="1478"/>
                  </a:cubicBezTo>
                  <a:cubicBezTo>
                    <a:pt x="4039111" y="2425"/>
                    <a:pt x="4039643" y="3709"/>
                    <a:pt x="4039643" y="5048"/>
                  </a:cubicBezTo>
                  <a:lnTo>
                    <a:pt x="4039643" y="424082"/>
                  </a:lnTo>
                  <a:cubicBezTo>
                    <a:pt x="4039643" y="425421"/>
                    <a:pt x="4039111" y="426705"/>
                    <a:pt x="4038164" y="427651"/>
                  </a:cubicBezTo>
                  <a:cubicBezTo>
                    <a:pt x="4037218" y="428598"/>
                    <a:pt x="4035934" y="429130"/>
                    <a:pt x="4034595" y="429130"/>
                  </a:cubicBezTo>
                  <a:lnTo>
                    <a:pt x="5048" y="429130"/>
                  </a:lnTo>
                  <a:cubicBezTo>
                    <a:pt x="3709" y="429130"/>
                    <a:pt x="2425" y="428598"/>
                    <a:pt x="1478" y="427651"/>
                  </a:cubicBezTo>
                  <a:cubicBezTo>
                    <a:pt x="532" y="426705"/>
                    <a:pt x="0" y="425421"/>
                    <a:pt x="0" y="424082"/>
                  </a:cubicBezTo>
                  <a:lnTo>
                    <a:pt x="0" y="5048"/>
                  </a:lnTo>
                  <a:cubicBezTo>
                    <a:pt x="0" y="3709"/>
                    <a:pt x="532" y="2425"/>
                    <a:pt x="1478" y="1478"/>
                  </a:cubicBezTo>
                  <a:cubicBezTo>
                    <a:pt x="2425" y="532"/>
                    <a:pt x="3709" y="0"/>
                    <a:pt x="5048" y="0"/>
                  </a:cubicBezTo>
                  <a:close/>
                </a:path>
              </a:pathLst>
            </a:custGeom>
            <a:solidFill>
              <a:srgbClr val="FFFDF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4039643" cy="4672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2039923" y="6435617"/>
            <a:ext cx="6452446" cy="755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59"/>
              </a:lnSpc>
            </a:pPr>
            <a:r>
              <a:rPr lang="en-US" sz="4399" b="true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PoeticFlow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74991" y="7674560"/>
            <a:ext cx="15163182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Efficient Generative NLP for Structured Short Context Tasks</a:t>
            </a:r>
          </a:p>
        </p:txBody>
      </p:sp>
      <p:grpSp>
        <p:nvGrpSpPr>
          <p:cNvPr name="Group 27" id="27"/>
          <p:cNvGrpSpPr/>
          <p:nvPr/>
        </p:nvGrpSpPr>
        <p:grpSpPr>
          <a:xfrm rot="1013998">
            <a:off x="15886359" y="9360351"/>
            <a:ext cx="824599" cy="824599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E298"/>
            </a:solidFill>
            <a:ln w="19050" cap="sq">
              <a:solidFill>
                <a:srgbClr val="000001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190500" y="200025"/>
              <a:ext cx="431800" cy="422275"/>
            </a:xfrm>
            <a:prstGeom prst="rect">
              <a:avLst/>
            </a:prstGeom>
          </p:spPr>
          <p:txBody>
            <a:bodyPr anchor="ctr" rtlCol="false" tIns="24208" lIns="24208" bIns="24208" rIns="24208"/>
            <a:lstStyle/>
            <a:p>
              <a:pPr algn="ctr" marL="0" indent="0" lvl="0">
                <a:lnSpc>
                  <a:spcPts val="831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-1367090">
            <a:off x="17340808" y="8113594"/>
            <a:ext cx="624997" cy="546872"/>
            <a:chOff x="0" y="0"/>
            <a:chExt cx="812800" cy="7112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10397" y="14377"/>
              <a:ext cx="792006" cy="696823"/>
            </a:xfrm>
            <a:custGeom>
              <a:avLst/>
              <a:gdLst/>
              <a:ahLst/>
              <a:cxnLst/>
              <a:rect r="r" b="b" t="t" l="l"/>
              <a:pathLst>
                <a:path h="696823" w="792006">
                  <a:moveTo>
                    <a:pt x="408294" y="7133"/>
                  </a:moveTo>
                  <a:lnTo>
                    <a:pt x="790112" y="675313"/>
                  </a:lnTo>
                  <a:cubicBezTo>
                    <a:pt x="792654" y="679763"/>
                    <a:pt x="792636" y="685230"/>
                    <a:pt x="790064" y="689662"/>
                  </a:cubicBezTo>
                  <a:cubicBezTo>
                    <a:pt x="787491" y="694095"/>
                    <a:pt x="782754" y="696823"/>
                    <a:pt x="777629" y="696823"/>
                  </a:cubicBezTo>
                  <a:lnTo>
                    <a:pt x="14377" y="696823"/>
                  </a:lnTo>
                  <a:cubicBezTo>
                    <a:pt x="9252" y="696823"/>
                    <a:pt x="4515" y="694095"/>
                    <a:pt x="1942" y="689662"/>
                  </a:cubicBezTo>
                  <a:cubicBezTo>
                    <a:pt x="-630" y="685230"/>
                    <a:pt x="-648" y="679763"/>
                    <a:pt x="1894" y="675313"/>
                  </a:cubicBezTo>
                  <a:lnTo>
                    <a:pt x="383712" y="7133"/>
                  </a:lnTo>
                  <a:cubicBezTo>
                    <a:pt x="386232" y="2722"/>
                    <a:pt x="390923" y="0"/>
                    <a:pt x="396003" y="0"/>
                  </a:cubicBezTo>
                  <a:cubicBezTo>
                    <a:pt x="401083" y="0"/>
                    <a:pt x="405774" y="2722"/>
                    <a:pt x="408294" y="7133"/>
                  </a:cubicBezTo>
                  <a:close/>
                </a:path>
              </a:pathLst>
            </a:custGeom>
            <a:solidFill>
              <a:srgbClr val="FFFDF9"/>
            </a:solidFill>
            <a:ln w="19050" cap="sq">
              <a:solidFill>
                <a:srgbClr val="000001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127000" y="339725"/>
              <a:ext cx="558800" cy="320675"/>
            </a:xfrm>
            <a:prstGeom prst="rect">
              <a:avLst/>
            </a:prstGeom>
          </p:spPr>
          <p:txBody>
            <a:bodyPr anchor="ctr" rtlCol="false" tIns="24208" lIns="24208" bIns="24208" rIns="24208"/>
            <a:lstStyle/>
            <a:p>
              <a:pPr algn="ctr" marL="0" indent="0" lvl="0">
                <a:lnSpc>
                  <a:spcPts val="831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52A5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78863" y="1028700"/>
            <a:ext cx="10115762" cy="2211393"/>
            <a:chOff x="0" y="0"/>
            <a:chExt cx="2664234" cy="5824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64234" cy="582425"/>
            </a:xfrm>
            <a:custGeom>
              <a:avLst/>
              <a:gdLst/>
              <a:ahLst/>
              <a:cxnLst/>
              <a:rect r="r" b="b" t="t" l="l"/>
              <a:pathLst>
                <a:path h="582425" w="2664234">
                  <a:moveTo>
                    <a:pt x="20664" y="0"/>
                  </a:moveTo>
                  <a:lnTo>
                    <a:pt x="2643570" y="0"/>
                  </a:lnTo>
                  <a:cubicBezTo>
                    <a:pt x="2649050" y="0"/>
                    <a:pt x="2654306" y="2177"/>
                    <a:pt x="2658181" y="6052"/>
                  </a:cubicBezTo>
                  <a:cubicBezTo>
                    <a:pt x="2662057" y="9928"/>
                    <a:pt x="2664234" y="15184"/>
                    <a:pt x="2664234" y="20664"/>
                  </a:cubicBezTo>
                  <a:lnTo>
                    <a:pt x="2664234" y="561761"/>
                  </a:lnTo>
                  <a:cubicBezTo>
                    <a:pt x="2664234" y="573173"/>
                    <a:pt x="2654982" y="582425"/>
                    <a:pt x="2643570" y="582425"/>
                  </a:cubicBezTo>
                  <a:lnTo>
                    <a:pt x="20664" y="582425"/>
                  </a:lnTo>
                  <a:cubicBezTo>
                    <a:pt x="9252" y="582425"/>
                    <a:pt x="0" y="573173"/>
                    <a:pt x="0" y="561761"/>
                  </a:cubicBezTo>
                  <a:lnTo>
                    <a:pt x="0" y="20664"/>
                  </a:lnTo>
                  <a:cubicBezTo>
                    <a:pt x="0" y="9252"/>
                    <a:pt x="9252" y="0"/>
                    <a:pt x="20664" y="0"/>
                  </a:cubicBezTo>
                  <a:close/>
                </a:path>
              </a:pathLst>
            </a:custGeom>
            <a:solidFill>
              <a:srgbClr val="FFE298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664234" cy="620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78863" y="2622427"/>
            <a:ext cx="13744623" cy="6635873"/>
            <a:chOff x="0" y="0"/>
            <a:chExt cx="3619983" cy="17477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619983" cy="1747720"/>
            </a:xfrm>
            <a:custGeom>
              <a:avLst/>
              <a:gdLst/>
              <a:ahLst/>
              <a:cxnLst/>
              <a:rect r="r" b="b" t="t" l="l"/>
              <a:pathLst>
                <a:path h="1747720" w="3619983">
                  <a:moveTo>
                    <a:pt x="5633" y="0"/>
                  </a:moveTo>
                  <a:lnTo>
                    <a:pt x="3614351" y="0"/>
                  </a:lnTo>
                  <a:cubicBezTo>
                    <a:pt x="3615844" y="0"/>
                    <a:pt x="3617277" y="593"/>
                    <a:pt x="3618333" y="1650"/>
                  </a:cubicBezTo>
                  <a:cubicBezTo>
                    <a:pt x="3619390" y="2706"/>
                    <a:pt x="3619983" y="4139"/>
                    <a:pt x="3619983" y="5633"/>
                  </a:cubicBezTo>
                  <a:lnTo>
                    <a:pt x="3619983" y="1742087"/>
                  </a:lnTo>
                  <a:cubicBezTo>
                    <a:pt x="3619983" y="1743581"/>
                    <a:pt x="3619390" y="1745014"/>
                    <a:pt x="3618333" y="1746070"/>
                  </a:cubicBezTo>
                  <a:cubicBezTo>
                    <a:pt x="3617277" y="1747126"/>
                    <a:pt x="3615844" y="1747720"/>
                    <a:pt x="3614351" y="1747720"/>
                  </a:cubicBezTo>
                  <a:lnTo>
                    <a:pt x="5633" y="1747720"/>
                  </a:lnTo>
                  <a:cubicBezTo>
                    <a:pt x="2522" y="1747720"/>
                    <a:pt x="0" y="1745198"/>
                    <a:pt x="0" y="1742087"/>
                  </a:cubicBezTo>
                  <a:lnTo>
                    <a:pt x="0" y="5633"/>
                  </a:lnTo>
                  <a:cubicBezTo>
                    <a:pt x="0" y="4139"/>
                    <a:pt x="593" y="2706"/>
                    <a:pt x="1650" y="1650"/>
                  </a:cubicBezTo>
                  <a:cubicBezTo>
                    <a:pt x="2706" y="593"/>
                    <a:pt x="4139" y="0"/>
                    <a:pt x="5633" y="0"/>
                  </a:cubicBezTo>
                  <a:close/>
                </a:path>
              </a:pathLst>
            </a:custGeom>
            <a:solidFill>
              <a:srgbClr val="FFFDF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619983" cy="17858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j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891230" y="1142425"/>
            <a:ext cx="5946240" cy="1383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46"/>
              </a:lnSpc>
            </a:pPr>
            <a:r>
              <a:rPr lang="en-US" sz="3961" b="true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Motivation &amp; Problem Statement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247629" y="2680355"/>
            <a:ext cx="11283098" cy="6780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24"/>
              </a:lnSpc>
            </a:pPr>
          </a:p>
          <a:p>
            <a:pPr algn="l">
              <a:lnSpc>
                <a:spcPts val="4424"/>
              </a:lnSpc>
            </a:pPr>
            <a:r>
              <a:rPr lang="en-US" sz="316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Current Industry Trend</a:t>
            </a:r>
          </a:p>
          <a:p>
            <a:pPr algn="l">
              <a:lnSpc>
                <a:spcPts val="4424"/>
              </a:lnSpc>
            </a:pPr>
            <a:r>
              <a:rPr lang="en-US" sz="316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Transformers dominate NLP because:</a:t>
            </a:r>
          </a:p>
          <a:p>
            <a:pPr algn="l" marL="682310" indent="-341155" lvl="1">
              <a:lnSpc>
                <a:spcPts val="4424"/>
              </a:lnSpc>
              <a:buFont typeface="Arial"/>
              <a:buChar char="•"/>
            </a:pPr>
            <a:r>
              <a:rPr lang="en-US" sz="316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Strong long-range dependency modeling</a:t>
            </a:r>
          </a:p>
          <a:p>
            <a:pPr algn="l" marL="682310" indent="-341155" lvl="1">
              <a:lnSpc>
                <a:spcPts val="4424"/>
              </a:lnSpc>
              <a:buFont typeface="Arial"/>
              <a:buChar char="•"/>
            </a:pPr>
            <a:r>
              <a:rPr lang="en-US" sz="316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Massive pretraining capability</a:t>
            </a:r>
          </a:p>
          <a:p>
            <a:pPr algn="l">
              <a:lnSpc>
                <a:spcPts val="4424"/>
              </a:lnSpc>
            </a:pPr>
            <a:r>
              <a:rPr lang="en-US" sz="316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But Real-World Limitation</a:t>
            </a:r>
          </a:p>
          <a:p>
            <a:pPr algn="l">
              <a:lnSpc>
                <a:spcPts val="4424"/>
              </a:lnSpc>
            </a:pPr>
            <a:r>
              <a:rPr lang="en-US" sz="316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Many generative tasks need:</a:t>
            </a:r>
          </a:p>
          <a:p>
            <a:pPr algn="l" marL="682310" indent="-341155" lvl="1">
              <a:lnSpc>
                <a:spcPts val="4424"/>
              </a:lnSpc>
              <a:buFont typeface="Arial"/>
              <a:buChar char="•"/>
            </a:pPr>
            <a:r>
              <a:rPr lang="en-US" sz="316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Short context understanding</a:t>
            </a:r>
          </a:p>
          <a:p>
            <a:pPr algn="l" marL="682310" indent="-341155" lvl="1">
              <a:lnSpc>
                <a:spcPts val="4424"/>
              </a:lnSpc>
              <a:buFont typeface="Arial"/>
              <a:buChar char="•"/>
            </a:pPr>
            <a:r>
              <a:rPr lang="en-US" sz="316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Structured sequential control</a:t>
            </a:r>
          </a:p>
          <a:p>
            <a:pPr algn="l" marL="682310" indent="-341155" lvl="1">
              <a:lnSpc>
                <a:spcPts val="4424"/>
              </a:lnSpc>
              <a:buFont typeface="Arial"/>
              <a:buChar char="•"/>
            </a:pPr>
            <a:r>
              <a:rPr lang="en-US" sz="316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Lower compute cost</a:t>
            </a:r>
          </a:p>
          <a:p>
            <a:pPr algn="l">
              <a:lnSpc>
                <a:spcPts val="5776"/>
              </a:lnSpc>
            </a:pPr>
          </a:p>
          <a:p>
            <a:pPr algn="l">
              <a:lnSpc>
                <a:spcPts val="4424"/>
              </a:lnSpc>
            </a:pPr>
          </a:p>
        </p:txBody>
      </p:sp>
      <p:grpSp>
        <p:nvGrpSpPr>
          <p:cNvPr name="Group 10" id="10"/>
          <p:cNvGrpSpPr/>
          <p:nvPr/>
        </p:nvGrpSpPr>
        <p:grpSpPr>
          <a:xfrm rot="-3338237">
            <a:off x="16143602" y="683116"/>
            <a:ext cx="2124321" cy="2124321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310462"/>
                  </a:lnTo>
                  <a:lnTo>
                    <a:pt x="657569" y="812800"/>
                  </a:lnTo>
                  <a:lnTo>
                    <a:pt x="155231" y="812800"/>
                  </a:lnTo>
                  <a:lnTo>
                    <a:pt x="0" y="310462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189B9"/>
            </a:solidFill>
            <a:ln w="19050" cap="sq">
              <a:solidFill>
                <a:srgbClr val="000001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127000" y="212725"/>
              <a:ext cx="558800" cy="549275"/>
            </a:xfrm>
            <a:prstGeom prst="rect">
              <a:avLst/>
            </a:prstGeom>
          </p:spPr>
          <p:txBody>
            <a:bodyPr anchor="ctr" rtlCol="false" tIns="24208" lIns="24208" bIns="24208" rIns="24208"/>
            <a:lstStyle/>
            <a:p>
              <a:pPr algn="ctr" marL="0" indent="0" lvl="0">
                <a:lnSpc>
                  <a:spcPts val="831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-1367090">
            <a:off x="17348314" y="-298616"/>
            <a:ext cx="682552" cy="597233"/>
            <a:chOff x="0" y="0"/>
            <a:chExt cx="812800" cy="711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9520" y="13165"/>
              <a:ext cx="793759" cy="698035"/>
            </a:xfrm>
            <a:custGeom>
              <a:avLst/>
              <a:gdLst/>
              <a:ahLst/>
              <a:cxnLst/>
              <a:rect r="r" b="b" t="t" l="l"/>
              <a:pathLst>
                <a:path h="698035" w="793759">
                  <a:moveTo>
                    <a:pt x="408135" y="6531"/>
                  </a:moveTo>
                  <a:lnTo>
                    <a:pt x="792025" y="678339"/>
                  </a:lnTo>
                  <a:cubicBezTo>
                    <a:pt x="794353" y="682413"/>
                    <a:pt x="794337" y="687419"/>
                    <a:pt x="791981" y="691478"/>
                  </a:cubicBezTo>
                  <a:cubicBezTo>
                    <a:pt x="789626" y="695537"/>
                    <a:pt x="785288" y="698035"/>
                    <a:pt x="780595" y="698035"/>
                  </a:cubicBezTo>
                  <a:lnTo>
                    <a:pt x="13165" y="698035"/>
                  </a:lnTo>
                  <a:cubicBezTo>
                    <a:pt x="8472" y="698035"/>
                    <a:pt x="4134" y="695537"/>
                    <a:pt x="1779" y="691478"/>
                  </a:cubicBezTo>
                  <a:cubicBezTo>
                    <a:pt x="-577" y="687419"/>
                    <a:pt x="-593" y="682413"/>
                    <a:pt x="1735" y="678339"/>
                  </a:cubicBezTo>
                  <a:lnTo>
                    <a:pt x="385625" y="6531"/>
                  </a:lnTo>
                  <a:cubicBezTo>
                    <a:pt x="387933" y="2492"/>
                    <a:pt x="392228" y="0"/>
                    <a:pt x="396880" y="0"/>
                  </a:cubicBezTo>
                  <a:cubicBezTo>
                    <a:pt x="401532" y="0"/>
                    <a:pt x="405827" y="2492"/>
                    <a:pt x="408135" y="6531"/>
                  </a:cubicBezTo>
                  <a:close/>
                </a:path>
              </a:pathLst>
            </a:custGeom>
            <a:solidFill>
              <a:srgbClr val="FFFDF9"/>
            </a:solidFill>
            <a:ln w="19050" cap="sq">
              <a:solidFill>
                <a:srgbClr val="000001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127000" y="339725"/>
              <a:ext cx="558800" cy="320675"/>
            </a:xfrm>
            <a:prstGeom prst="rect">
              <a:avLst/>
            </a:prstGeom>
          </p:spPr>
          <p:txBody>
            <a:bodyPr anchor="ctr" rtlCol="false" tIns="24208" lIns="24208" bIns="24208" rIns="24208"/>
            <a:lstStyle/>
            <a:p>
              <a:pPr algn="ctr" marL="0" indent="0" lvl="0">
                <a:lnSpc>
                  <a:spcPts val="831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660254">
            <a:off x="14801745" y="539829"/>
            <a:ext cx="977742" cy="977742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E298"/>
            </a:solidFill>
            <a:ln w="19050" cap="sq">
              <a:solidFill>
                <a:srgbClr val="000001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190500" y="200025"/>
              <a:ext cx="431800" cy="422275"/>
            </a:xfrm>
            <a:prstGeom prst="rect">
              <a:avLst/>
            </a:prstGeom>
          </p:spPr>
          <p:txBody>
            <a:bodyPr anchor="ctr" rtlCol="false" tIns="24208" lIns="24208" bIns="24208" rIns="24208"/>
            <a:lstStyle/>
            <a:p>
              <a:pPr algn="ctr" marL="0" indent="0" lvl="0">
                <a:lnSpc>
                  <a:spcPts val="831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-1367090">
            <a:off x="13754848" y="-59163"/>
            <a:ext cx="497503" cy="435315"/>
            <a:chOff x="0" y="0"/>
            <a:chExt cx="812800" cy="711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3062" y="18061"/>
              <a:ext cx="786677" cy="693139"/>
            </a:xfrm>
            <a:custGeom>
              <a:avLst/>
              <a:gdLst/>
              <a:ahLst/>
              <a:cxnLst/>
              <a:rect r="r" b="b" t="t" l="l"/>
              <a:pathLst>
                <a:path h="693139" w="786677">
                  <a:moveTo>
                    <a:pt x="408779" y="8961"/>
                  </a:moveTo>
                  <a:lnTo>
                    <a:pt x="784297" y="666117"/>
                  </a:lnTo>
                  <a:cubicBezTo>
                    <a:pt x="787491" y="671707"/>
                    <a:pt x="787468" y="678574"/>
                    <a:pt x="784236" y="684143"/>
                  </a:cubicBezTo>
                  <a:cubicBezTo>
                    <a:pt x="781005" y="689712"/>
                    <a:pt x="775053" y="693139"/>
                    <a:pt x="768615" y="693139"/>
                  </a:cubicBezTo>
                  <a:lnTo>
                    <a:pt x="18061" y="693139"/>
                  </a:lnTo>
                  <a:cubicBezTo>
                    <a:pt x="11623" y="693139"/>
                    <a:pt x="5671" y="689712"/>
                    <a:pt x="2440" y="684143"/>
                  </a:cubicBezTo>
                  <a:cubicBezTo>
                    <a:pt x="-792" y="678574"/>
                    <a:pt x="-815" y="671707"/>
                    <a:pt x="2379" y="666117"/>
                  </a:cubicBezTo>
                  <a:lnTo>
                    <a:pt x="377897" y="8961"/>
                  </a:lnTo>
                  <a:cubicBezTo>
                    <a:pt x="381063" y="3420"/>
                    <a:pt x="386956" y="0"/>
                    <a:pt x="393338" y="0"/>
                  </a:cubicBezTo>
                  <a:cubicBezTo>
                    <a:pt x="399720" y="0"/>
                    <a:pt x="405613" y="3420"/>
                    <a:pt x="408779" y="8961"/>
                  </a:cubicBezTo>
                  <a:close/>
                </a:path>
              </a:pathLst>
            </a:custGeom>
            <a:solidFill>
              <a:srgbClr val="69BFA5"/>
            </a:solidFill>
            <a:ln w="19050" cap="sq">
              <a:solidFill>
                <a:srgbClr val="000001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127000" y="339725"/>
              <a:ext cx="558800" cy="320675"/>
            </a:xfrm>
            <a:prstGeom prst="rect">
              <a:avLst/>
            </a:prstGeom>
          </p:spPr>
          <p:txBody>
            <a:bodyPr anchor="ctr" rtlCol="false" tIns="24208" lIns="24208" bIns="24208" rIns="24208"/>
            <a:lstStyle/>
            <a:p>
              <a:pPr algn="ctr" marL="0" indent="0" lvl="0">
                <a:lnSpc>
                  <a:spcPts val="831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-1367090">
            <a:off x="17871129" y="3374836"/>
            <a:ext cx="497503" cy="435315"/>
            <a:chOff x="0" y="0"/>
            <a:chExt cx="812800" cy="7112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13062" y="18061"/>
              <a:ext cx="786677" cy="693139"/>
            </a:xfrm>
            <a:custGeom>
              <a:avLst/>
              <a:gdLst/>
              <a:ahLst/>
              <a:cxnLst/>
              <a:rect r="r" b="b" t="t" l="l"/>
              <a:pathLst>
                <a:path h="693139" w="786677">
                  <a:moveTo>
                    <a:pt x="408779" y="8961"/>
                  </a:moveTo>
                  <a:lnTo>
                    <a:pt x="784297" y="666117"/>
                  </a:lnTo>
                  <a:cubicBezTo>
                    <a:pt x="787491" y="671707"/>
                    <a:pt x="787468" y="678574"/>
                    <a:pt x="784236" y="684143"/>
                  </a:cubicBezTo>
                  <a:cubicBezTo>
                    <a:pt x="781005" y="689712"/>
                    <a:pt x="775053" y="693139"/>
                    <a:pt x="768615" y="693139"/>
                  </a:cubicBezTo>
                  <a:lnTo>
                    <a:pt x="18061" y="693139"/>
                  </a:lnTo>
                  <a:cubicBezTo>
                    <a:pt x="11623" y="693139"/>
                    <a:pt x="5671" y="689712"/>
                    <a:pt x="2440" y="684143"/>
                  </a:cubicBezTo>
                  <a:cubicBezTo>
                    <a:pt x="-792" y="678574"/>
                    <a:pt x="-815" y="671707"/>
                    <a:pt x="2379" y="666117"/>
                  </a:cubicBezTo>
                  <a:lnTo>
                    <a:pt x="377897" y="8961"/>
                  </a:lnTo>
                  <a:cubicBezTo>
                    <a:pt x="381063" y="3420"/>
                    <a:pt x="386956" y="0"/>
                    <a:pt x="393338" y="0"/>
                  </a:cubicBezTo>
                  <a:cubicBezTo>
                    <a:pt x="399720" y="0"/>
                    <a:pt x="405613" y="3420"/>
                    <a:pt x="408779" y="8961"/>
                  </a:cubicBezTo>
                  <a:close/>
                </a:path>
              </a:pathLst>
            </a:custGeom>
            <a:solidFill>
              <a:srgbClr val="FFE298"/>
            </a:solidFill>
            <a:ln w="19050" cap="sq">
              <a:solidFill>
                <a:srgbClr val="000001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127000" y="339725"/>
              <a:ext cx="558800" cy="320675"/>
            </a:xfrm>
            <a:prstGeom prst="rect">
              <a:avLst/>
            </a:prstGeom>
          </p:spPr>
          <p:txBody>
            <a:bodyPr anchor="ctr" rtlCol="false" tIns="24208" lIns="24208" bIns="24208" rIns="24208"/>
            <a:lstStyle/>
            <a:p>
              <a:pPr algn="ctr" marL="0" indent="0" lvl="0">
                <a:lnSpc>
                  <a:spcPts val="831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52A5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78863" y="1028700"/>
            <a:ext cx="10115762" cy="2211393"/>
            <a:chOff x="0" y="0"/>
            <a:chExt cx="2664234" cy="5824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64234" cy="582425"/>
            </a:xfrm>
            <a:custGeom>
              <a:avLst/>
              <a:gdLst/>
              <a:ahLst/>
              <a:cxnLst/>
              <a:rect r="r" b="b" t="t" l="l"/>
              <a:pathLst>
                <a:path h="582425" w="2664234">
                  <a:moveTo>
                    <a:pt x="20664" y="0"/>
                  </a:moveTo>
                  <a:lnTo>
                    <a:pt x="2643570" y="0"/>
                  </a:lnTo>
                  <a:cubicBezTo>
                    <a:pt x="2649050" y="0"/>
                    <a:pt x="2654306" y="2177"/>
                    <a:pt x="2658181" y="6052"/>
                  </a:cubicBezTo>
                  <a:cubicBezTo>
                    <a:pt x="2662057" y="9928"/>
                    <a:pt x="2664234" y="15184"/>
                    <a:pt x="2664234" y="20664"/>
                  </a:cubicBezTo>
                  <a:lnTo>
                    <a:pt x="2664234" y="561761"/>
                  </a:lnTo>
                  <a:cubicBezTo>
                    <a:pt x="2664234" y="573173"/>
                    <a:pt x="2654982" y="582425"/>
                    <a:pt x="2643570" y="582425"/>
                  </a:cubicBezTo>
                  <a:lnTo>
                    <a:pt x="20664" y="582425"/>
                  </a:lnTo>
                  <a:cubicBezTo>
                    <a:pt x="9252" y="582425"/>
                    <a:pt x="0" y="573173"/>
                    <a:pt x="0" y="561761"/>
                  </a:cubicBezTo>
                  <a:lnTo>
                    <a:pt x="0" y="20664"/>
                  </a:lnTo>
                  <a:cubicBezTo>
                    <a:pt x="0" y="9252"/>
                    <a:pt x="9252" y="0"/>
                    <a:pt x="20664" y="0"/>
                  </a:cubicBezTo>
                  <a:close/>
                </a:path>
              </a:pathLst>
            </a:custGeom>
            <a:solidFill>
              <a:srgbClr val="FFE298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664234" cy="620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78863" y="2622427"/>
            <a:ext cx="13744623" cy="6635873"/>
            <a:chOff x="0" y="0"/>
            <a:chExt cx="3619983" cy="17477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619983" cy="1747720"/>
            </a:xfrm>
            <a:custGeom>
              <a:avLst/>
              <a:gdLst/>
              <a:ahLst/>
              <a:cxnLst/>
              <a:rect r="r" b="b" t="t" l="l"/>
              <a:pathLst>
                <a:path h="1747720" w="3619983">
                  <a:moveTo>
                    <a:pt x="5633" y="0"/>
                  </a:moveTo>
                  <a:lnTo>
                    <a:pt x="3614351" y="0"/>
                  </a:lnTo>
                  <a:cubicBezTo>
                    <a:pt x="3615844" y="0"/>
                    <a:pt x="3617277" y="593"/>
                    <a:pt x="3618333" y="1650"/>
                  </a:cubicBezTo>
                  <a:cubicBezTo>
                    <a:pt x="3619390" y="2706"/>
                    <a:pt x="3619983" y="4139"/>
                    <a:pt x="3619983" y="5633"/>
                  </a:cubicBezTo>
                  <a:lnTo>
                    <a:pt x="3619983" y="1742087"/>
                  </a:lnTo>
                  <a:cubicBezTo>
                    <a:pt x="3619983" y="1743581"/>
                    <a:pt x="3619390" y="1745014"/>
                    <a:pt x="3618333" y="1746070"/>
                  </a:cubicBezTo>
                  <a:cubicBezTo>
                    <a:pt x="3617277" y="1747126"/>
                    <a:pt x="3615844" y="1747720"/>
                    <a:pt x="3614351" y="1747720"/>
                  </a:cubicBezTo>
                  <a:lnTo>
                    <a:pt x="5633" y="1747720"/>
                  </a:lnTo>
                  <a:cubicBezTo>
                    <a:pt x="2522" y="1747720"/>
                    <a:pt x="0" y="1745198"/>
                    <a:pt x="0" y="1742087"/>
                  </a:cubicBezTo>
                  <a:lnTo>
                    <a:pt x="0" y="5633"/>
                  </a:lnTo>
                  <a:cubicBezTo>
                    <a:pt x="0" y="4139"/>
                    <a:pt x="593" y="2706"/>
                    <a:pt x="1650" y="1650"/>
                  </a:cubicBezTo>
                  <a:cubicBezTo>
                    <a:pt x="2706" y="593"/>
                    <a:pt x="4139" y="0"/>
                    <a:pt x="5633" y="0"/>
                  </a:cubicBezTo>
                  <a:close/>
                </a:path>
              </a:pathLst>
            </a:custGeom>
            <a:solidFill>
              <a:srgbClr val="FFFDF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619983" cy="17858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j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552267" y="1331550"/>
            <a:ext cx="6465897" cy="741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31"/>
              </a:lnSpc>
            </a:pPr>
            <a:r>
              <a:rPr lang="en-US" sz="4307" b="true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Project Goal: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28555" y="2884839"/>
            <a:ext cx="11283098" cy="2746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24"/>
              </a:lnSpc>
            </a:pPr>
            <a:r>
              <a:rPr lang="en-US" sz="316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Design an optimized RNN-based generative pipeline that:</a:t>
            </a:r>
          </a:p>
          <a:p>
            <a:pPr algn="l" marL="682310" indent="-341155" lvl="1">
              <a:lnSpc>
                <a:spcPts val="4424"/>
              </a:lnSpc>
              <a:buFont typeface="Arial"/>
              <a:buChar char="•"/>
            </a:pPr>
            <a:r>
              <a:rPr lang="en-US" sz="316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Works</a:t>
            </a:r>
            <a:r>
              <a:rPr lang="en-US" sz="316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well on structured short context text</a:t>
            </a:r>
          </a:p>
          <a:p>
            <a:pPr algn="l" marL="682310" indent="-341155" lvl="1">
              <a:lnSpc>
                <a:spcPts val="4424"/>
              </a:lnSpc>
              <a:buFont typeface="Arial"/>
              <a:buChar char="•"/>
            </a:pPr>
            <a:r>
              <a:rPr lang="en-US" sz="316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Uses conditioning + attention extensions</a:t>
            </a:r>
          </a:p>
          <a:p>
            <a:pPr algn="l" marL="682310" indent="-341155" lvl="1">
              <a:lnSpc>
                <a:spcPts val="4424"/>
              </a:lnSpc>
              <a:buFont typeface="Arial"/>
              <a:buChar char="•"/>
            </a:pPr>
            <a:r>
              <a:rPr lang="en-US" sz="316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</a:t>
            </a:r>
            <a:r>
              <a:rPr lang="en-US" sz="316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emains computationally efficient</a:t>
            </a:r>
          </a:p>
          <a:p>
            <a:pPr algn="l">
              <a:lnSpc>
                <a:spcPts val="4424"/>
              </a:lnSpc>
            </a:pPr>
          </a:p>
        </p:txBody>
      </p:sp>
      <p:grpSp>
        <p:nvGrpSpPr>
          <p:cNvPr name="Group 10" id="10"/>
          <p:cNvGrpSpPr/>
          <p:nvPr/>
        </p:nvGrpSpPr>
        <p:grpSpPr>
          <a:xfrm rot="-3338237">
            <a:off x="16143602" y="683116"/>
            <a:ext cx="2124321" cy="2124321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310462"/>
                  </a:lnTo>
                  <a:lnTo>
                    <a:pt x="657569" y="812800"/>
                  </a:lnTo>
                  <a:lnTo>
                    <a:pt x="155231" y="812800"/>
                  </a:lnTo>
                  <a:lnTo>
                    <a:pt x="0" y="310462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189B9"/>
            </a:solidFill>
            <a:ln w="19050" cap="sq">
              <a:solidFill>
                <a:srgbClr val="000001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127000" y="212725"/>
              <a:ext cx="558800" cy="549275"/>
            </a:xfrm>
            <a:prstGeom prst="rect">
              <a:avLst/>
            </a:prstGeom>
          </p:spPr>
          <p:txBody>
            <a:bodyPr anchor="ctr" rtlCol="false" tIns="24208" lIns="24208" bIns="24208" rIns="24208"/>
            <a:lstStyle/>
            <a:p>
              <a:pPr algn="ctr" marL="0" indent="0" lvl="0">
                <a:lnSpc>
                  <a:spcPts val="831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-1367090">
            <a:off x="17348314" y="-298616"/>
            <a:ext cx="682552" cy="597233"/>
            <a:chOff x="0" y="0"/>
            <a:chExt cx="812800" cy="711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9520" y="13165"/>
              <a:ext cx="793759" cy="698035"/>
            </a:xfrm>
            <a:custGeom>
              <a:avLst/>
              <a:gdLst/>
              <a:ahLst/>
              <a:cxnLst/>
              <a:rect r="r" b="b" t="t" l="l"/>
              <a:pathLst>
                <a:path h="698035" w="793759">
                  <a:moveTo>
                    <a:pt x="408135" y="6531"/>
                  </a:moveTo>
                  <a:lnTo>
                    <a:pt x="792025" y="678339"/>
                  </a:lnTo>
                  <a:cubicBezTo>
                    <a:pt x="794353" y="682413"/>
                    <a:pt x="794337" y="687419"/>
                    <a:pt x="791981" y="691478"/>
                  </a:cubicBezTo>
                  <a:cubicBezTo>
                    <a:pt x="789626" y="695537"/>
                    <a:pt x="785288" y="698035"/>
                    <a:pt x="780595" y="698035"/>
                  </a:cubicBezTo>
                  <a:lnTo>
                    <a:pt x="13165" y="698035"/>
                  </a:lnTo>
                  <a:cubicBezTo>
                    <a:pt x="8472" y="698035"/>
                    <a:pt x="4134" y="695537"/>
                    <a:pt x="1779" y="691478"/>
                  </a:cubicBezTo>
                  <a:cubicBezTo>
                    <a:pt x="-577" y="687419"/>
                    <a:pt x="-593" y="682413"/>
                    <a:pt x="1735" y="678339"/>
                  </a:cubicBezTo>
                  <a:lnTo>
                    <a:pt x="385625" y="6531"/>
                  </a:lnTo>
                  <a:cubicBezTo>
                    <a:pt x="387933" y="2492"/>
                    <a:pt x="392228" y="0"/>
                    <a:pt x="396880" y="0"/>
                  </a:cubicBezTo>
                  <a:cubicBezTo>
                    <a:pt x="401532" y="0"/>
                    <a:pt x="405827" y="2492"/>
                    <a:pt x="408135" y="6531"/>
                  </a:cubicBezTo>
                  <a:close/>
                </a:path>
              </a:pathLst>
            </a:custGeom>
            <a:solidFill>
              <a:srgbClr val="FFFDF9"/>
            </a:solidFill>
            <a:ln w="19050" cap="sq">
              <a:solidFill>
                <a:srgbClr val="000001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127000" y="339725"/>
              <a:ext cx="558800" cy="320675"/>
            </a:xfrm>
            <a:prstGeom prst="rect">
              <a:avLst/>
            </a:prstGeom>
          </p:spPr>
          <p:txBody>
            <a:bodyPr anchor="ctr" rtlCol="false" tIns="24208" lIns="24208" bIns="24208" rIns="24208"/>
            <a:lstStyle/>
            <a:p>
              <a:pPr algn="ctr" marL="0" indent="0" lvl="0">
                <a:lnSpc>
                  <a:spcPts val="831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660254">
            <a:off x="14801745" y="539829"/>
            <a:ext cx="977742" cy="977742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E298"/>
            </a:solidFill>
            <a:ln w="19050" cap="sq">
              <a:solidFill>
                <a:srgbClr val="000001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190500" y="200025"/>
              <a:ext cx="431800" cy="422275"/>
            </a:xfrm>
            <a:prstGeom prst="rect">
              <a:avLst/>
            </a:prstGeom>
          </p:spPr>
          <p:txBody>
            <a:bodyPr anchor="ctr" rtlCol="false" tIns="24208" lIns="24208" bIns="24208" rIns="24208"/>
            <a:lstStyle/>
            <a:p>
              <a:pPr algn="ctr" marL="0" indent="0" lvl="0">
                <a:lnSpc>
                  <a:spcPts val="831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-1367090">
            <a:off x="13754848" y="-59163"/>
            <a:ext cx="497503" cy="435315"/>
            <a:chOff x="0" y="0"/>
            <a:chExt cx="812800" cy="711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3062" y="18061"/>
              <a:ext cx="786677" cy="693139"/>
            </a:xfrm>
            <a:custGeom>
              <a:avLst/>
              <a:gdLst/>
              <a:ahLst/>
              <a:cxnLst/>
              <a:rect r="r" b="b" t="t" l="l"/>
              <a:pathLst>
                <a:path h="693139" w="786677">
                  <a:moveTo>
                    <a:pt x="408779" y="8961"/>
                  </a:moveTo>
                  <a:lnTo>
                    <a:pt x="784297" y="666117"/>
                  </a:lnTo>
                  <a:cubicBezTo>
                    <a:pt x="787491" y="671707"/>
                    <a:pt x="787468" y="678574"/>
                    <a:pt x="784236" y="684143"/>
                  </a:cubicBezTo>
                  <a:cubicBezTo>
                    <a:pt x="781005" y="689712"/>
                    <a:pt x="775053" y="693139"/>
                    <a:pt x="768615" y="693139"/>
                  </a:cubicBezTo>
                  <a:lnTo>
                    <a:pt x="18061" y="693139"/>
                  </a:lnTo>
                  <a:cubicBezTo>
                    <a:pt x="11623" y="693139"/>
                    <a:pt x="5671" y="689712"/>
                    <a:pt x="2440" y="684143"/>
                  </a:cubicBezTo>
                  <a:cubicBezTo>
                    <a:pt x="-792" y="678574"/>
                    <a:pt x="-815" y="671707"/>
                    <a:pt x="2379" y="666117"/>
                  </a:cubicBezTo>
                  <a:lnTo>
                    <a:pt x="377897" y="8961"/>
                  </a:lnTo>
                  <a:cubicBezTo>
                    <a:pt x="381063" y="3420"/>
                    <a:pt x="386956" y="0"/>
                    <a:pt x="393338" y="0"/>
                  </a:cubicBezTo>
                  <a:cubicBezTo>
                    <a:pt x="399720" y="0"/>
                    <a:pt x="405613" y="3420"/>
                    <a:pt x="408779" y="8961"/>
                  </a:cubicBezTo>
                  <a:close/>
                </a:path>
              </a:pathLst>
            </a:custGeom>
            <a:solidFill>
              <a:srgbClr val="69BFA5"/>
            </a:solidFill>
            <a:ln w="19050" cap="sq">
              <a:solidFill>
                <a:srgbClr val="000001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127000" y="339725"/>
              <a:ext cx="558800" cy="320675"/>
            </a:xfrm>
            <a:prstGeom prst="rect">
              <a:avLst/>
            </a:prstGeom>
          </p:spPr>
          <p:txBody>
            <a:bodyPr anchor="ctr" rtlCol="false" tIns="24208" lIns="24208" bIns="24208" rIns="24208"/>
            <a:lstStyle/>
            <a:p>
              <a:pPr algn="ctr" marL="0" indent="0" lvl="0">
                <a:lnSpc>
                  <a:spcPts val="831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-1367090">
            <a:off x="17871129" y="3374836"/>
            <a:ext cx="497503" cy="435315"/>
            <a:chOff x="0" y="0"/>
            <a:chExt cx="812800" cy="7112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13062" y="18061"/>
              <a:ext cx="786677" cy="693139"/>
            </a:xfrm>
            <a:custGeom>
              <a:avLst/>
              <a:gdLst/>
              <a:ahLst/>
              <a:cxnLst/>
              <a:rect r="r" b="b" t="t" l="l"/>
              <a:pathLst>
                <a:path h="693139" w="786677">
                  <a:moveTo>
                    <a:pt x="408779" y="8961"/>
                  </a:moveTo>
                  <a:lnTo>
                    <a:pt x="784297" y="666117"/>
                  </a:lnTo>
                  <a:cubicBezTo>
                    <a:pt x="787491" y="671707"/>
                    <a:pt x="787468" y="678574"/>
                    <a:pt x="784236" y="684143"/>
                  </a:cubicBezTo>
                  <a:cubicBezTo>
                    <a:pt x="781005" y="689712"/>
                    <a:pt x="775053" y="693139"/>
                    <a:pt x="768615" y="693139"/>
                  </a:cubicBezTo>
                  <a:lnTo>
                    <a:pt x="18061" y="693139"/>
                  </a:lnTo>
                  <a:cubicBezTo>
                    <a:pt x="11623" y="693139"/>
                    <a:pt x="5671" y="689712"/>
                    <a:pt x="2440" y="684143"/>
                  </a:cubicBezTo>
                  <a:cubicBezTo>
                    <a:pt x="-792" y="678574"/>
                    <a:pt x="-815" y="671707"/>
                    <a:pt x="2379" y="666117"/>
                  </a:cubicBezTo>
                  <a:lnTo>
                    <a:pt x="377897" y="8961"/>
                  </a:lnTo>
                  <a:cubicBezTo>
                    <a:pt x="381063" y="3420"/>
                    <a:pt x="386956" y="0"/>
                    <a:pt x="393338" y="0"/>
                  </a:cubicBezTo>
                  <a:cubicBezTo>
                    <a:pt x="399720" y="0"/>
                    <a:pt x="405613" y="3420"/>
                    <a:pt x="408779" y="8961"/>
                  </a:cubicBezTo>
                  <a:close/>
                </a:path>
              </a:pathLst>
            </a:custGeom>
            <a:solidFill>
              <a:srgbClr val="FFE298"/>
            </a:solidFill>
            <a:ln w="19050" cap="sq">
              <a:solidFill>
                <a:srgbClr val="000001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127000" y="339725"/>
              <a:ext cx="558800" cy="320675"/>
            </a:xfrm>
            <a:prstGeom prst="rect">
              <a:avLst/>
            </a:prstGeom>
          </p:spPr>
          <p:txBody>
            <a:bodyPr anchor="ctr" rtlCol="false" tIns="24208" lIns="24208" bIns="24208" rIns="24208"/>
            <a:lstStyle/>
            <a:p>
              <a:pPr algn="ctr" marL="0" indent="0" lvl="0">
                <a:lnSpc>
                  <a:spcPts val="831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728555" y="5564212"/>
            <a:ext cx="11283098" cy="3336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04"/>
              </a:lnSpc>
            </a:pPr>
            <a:r>
              <a:rPr lang="en-US" sz="336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Use Cases</a:t>
            </a:r>
          </a:p>
          <a:p>
            <a:pPr algn="l" marL="682310" indent="-341155" lvl="1">
              <a:lnSpc>
                <a:spcPts val="4424"/>
              </a:lnSpc>
              <a:buFont typeface="Arial"/>
              <a:buChar char="•"/>
            </a:pPr>
            <a:r>
              <a:rPr lang="en-US" sz="316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Poetry generation</a:t>
            </a:r>
          </a:p>
          <a:p>
            <a:pPr algn="l" marL="682310" indent="-341155" lvl="1">
              <a:lnSpc>
                <a:spcPts val="4424"/>
              </a:lnSpc>
              <a:buFont typeface="Arial"/>
              <a:buChar char="•"/>
            </a:pPr>
            <a:r>
              <a:rPr lang="en-US" sz="316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Dialogue continuation</a:t>
            </a:r>
          </a:p>
          <a:p>
            <a:pPr algn="l" marL="682310" indent="-341155" lvl="1">
              <a:lnSpc>
                <a:spcPts val="4424"/>
              </a:lnSpc>
              <a:buFont typeface="Arial"/>
              <a:buChar char="•"/>
            </a:pPr>
            <a:r>
              <a:rPr lang="en-US" sz="316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Song lyric generation</a:t>
            </a:r>
          </a:p>
          <a:p>
            <a:pPr algn="l" marL="682310" indent="-341155" lvl="1">
              <a:lnSpc>
                <a:spcPts val="4424"/>
              </a:lnSpc>
              <a:buFont typeface="Arial"/>
              <a:buChar char="•"/>
            </a:pPr>
            <a:r>
              <a:rPr lang="en-US" sz="316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Edg</a:t>
            </a:r>
            <a:r>
              <a:rPr lang="en-US" sz="316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 deployment NLP</a:t>
            </a:r>
          </a:p>
          <a:p>
            <a:pPr algn="l">
              <a:lnSpc>
                <a:spcPts val="4424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FE29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11220" y="980310"/>
            <a:ext cx="15387048" cy="1968220"/>
            <a:chOff x="0" y="0"/>
            <a:chExt cx="4052556" cy="51837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052556" cy="518379"/>
            </a:xfrm>
            <a:custGeom>
              <a:avLst/>
              <a:gdLst/>
              <a:ahLst/>
              <a:cxnLst/>
              <a:rect r="r" b="b" t="t" l="l"/>
              <a:pathLst>
                <a:path h="518379" w="4052556">
                  <a:moveTo>
                    <a:pt x="13585" y="0"/>
                  </a:moveTo>
                  <a:lnTo>
                    <a:pt x="4038971" y="0"/>
                  </a:lnTo>
                  <a:cubicBezTo>
                    <a:pt x="4046474" y="0"/>
                    <a:pt x="4052556" y="6082"/>
                    <a:pt x="4052556" y="13585"/>
                  </a:cubicBezTo>
                  <a:lnTo>
                    <a:pt x="4052556" y="504794"/>
                  </a:lnTo>
                  <a:cubicBezTo>
                    <a:pt x="4052556" y="508397"/>
                    <a:pt x="4051124" y="511852"/>
                    <a:pt x="4048577" y="514400"/>
                  </a:cubicBezTo>
                  <a:cubicBezTo>
                    <a:pt x="4046029" y="516948"/>
                    <a:pt x="4042574" y="518379"/>
                    <a:pt x="4038971" y="518379"/>
                  </a:cubicBezTo>
                  <a:lnTo>
                    <a:pt x="13585" y="518379"/>
                  </a:lnTo>
                  <a:cubicBezTo>
                    <a:pt x="6082" y="518379"/>
                    <a:pt x="0" y="512297"/>
                    <a:pt x="0" y="504794"/>
                  </a:cubicBezTo>
                  <a:lnTo>
                    <a:pt x="0" y="13585"/>
                  </a:lnTo>
                  <a:cubicBezTo>
                    <a:pt x="0" y="6082"/>
                    <a:pt x="6082" y="0"/>
                    <a:pt x="13585" y="0"/>
                  </a:cubicBezTo>
                  <a:close/>
                </a:path>
              </a:pathLst>
            </a:custGeom>
            <a:solidFill>
              <a:srgbClr val="FFFDF9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052556" cy="556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11220" y="3577180"/>
            <a:ext cx="15387048" cy="5681120"/>
            <a:chOff x="0" y="0"/>
            <a:chExt cx="4052556" cy="149626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52556" cy="1496262"/>
            </a:xfrm>
            <a:custGeom>
              <a:avLst/>
              <a:gdLst/>
              <a:ahLst/>
              <a:cxnLst/>
              <a:rect r="r" b="b" t="t" l="l"/>
              <a:pathLst>
                <a:path h="1496262" w="4052556">
                  <a:moveTo>
                    <a:pt x="0" y="0"/>
                  </a:moveTo>
                  <a:lnTo>
                    <a:pt x="4052556" y="0"/>
                  </a:lnTo>
                  <a:lnTo>
                    <a:pt x="4052556" y="1496262"/>
                  </a:lnTo>
                  <a:lnTo>
                    <a:pt x="0" y="1496262"/>
                  </a:lnTo>
                  <a:close/>
                </a:path>
              </a:pathLst>
            </a:custGeom>
            <a:solidFill>
              <a:srgbClr val="FFFDF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52556" cy="15343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124449" y="1355137"/>
            <a:ext cx="12039101" cy="109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 b="true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Dataset Overview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526905" y="3631859"/>
            <a:ext cx="9903277" cy="5698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1"/>
              </a:lnSpc>
            </a:pPr>
          </a:p>
          <a:p>
            <a:pPr algn="l">
              <a:lnSpc>
                <a:spcPts val="3771"/>
              </a:lnSpc>
            </a:pPr>
            <a:r>
              <a:rPr lang="en-US" sz="2694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Dataset Used: </a:t>
            </a:r>
          </a:p>
          <a:p>
            <a:pPr algn="l">
              <a:lnSpc>
                <a:spcPts val="3771"/>
              </a:lnSpc>
            </a:pPr>
            <a:r>
              <a:rPr lang="en-US" sz="2694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Gutenberg Poetry Corpus</a:t>
            </a:r>
          </a:p>
          <a:p>
            <a:pPr algn="l">
              <a:lnSpc>
                <a:spcPts val="3771"/>
              </a:lnSpc>
            </a:pPr>
            <a:r>
              <a:rPr lang="en-US" sz="2694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Loaded using HuggingFace Datasets API.</a:t>
            </a:r>
          </a:p>
          <a:p>
            <a:pPr algn="l">
              <a:lnSpc>
                <a:spcPts val="3771"/>
              </a:lnSpc>
            </a:pPr>
            <a:r>
              <a:rPr lang="en-US" sz="2694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Processing Steps</a:t>
            </a:r>
          </a:p>
          <a:p>
            <a:pPr algn="l" marL="581672" indent="-290836" lvl="1">
              <a:lnSpc>
                <a:spcPts val="3771"/>
              </a:lnSpc>
              <a:buFont typeface="Arial"/>
              <a:buChar char="•"/>
            </a:pPr>
            <a:r>
              <a:rPr lang="en-US" sz="2694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Load dataset → datasets.load_dataset()</a:t>
            </a:r>
          </a:p>
          <a:p>
            <a:pPr algn="l" marL="581672" indent="-290836" lvl="1">
              <a:lnSpc>
                <a:spcPts val="3771"/>
              </a:lnSpc>
              <a:buFont typeface="Arial"/>
              <a:buChar char="•"/>
            </a:pPr>
            <a:r>
              <a:rPr lang="en-US" sz="2694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Group lines using gutenberg_id</a:t>
            </a:r>
          </a:p>
          <a:p>
            <a:pPr algn="l" marL="581672" indent="-290836" lvl="1">
              <a:lnSpc>
                <a:spcPts val="3771"/>
              </a:lnSpc>
              <a:buFont typeface="Arial"/>
              <a:buChar char="•"/>
            </a:pPr>
            <a:r>
              <a:rPr lang="en-US" sz="2694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Reconstruct poems</a:t>
            </a:r>
          </a:p>
          <a:p>
            <a:pPr algn="l" marL="581672" indent="-290836" lvl="1">
              <a:lnSpc>
                <a:spcPts val="3771"/>
              </a:lnSpc>
              <a:buFont typeface="Arial"/>
              <a:buChar char="•"/>
            </a:pPr>
            <a:r>
              <a:rPr lang="en-US" sz="2694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Create seed → next line training pairs</a:t>
            </a:r>
          </a:p>
          <a:p>
            <a:pPr algn="l" marL="581672" indent="-290836" lvl="1">
              <a:lnSpc>
                <a:spcPts val="3771"/>
              </a:lnSpc>
              <a:buFont typeface="Arial"/>
              <a:buChar char="•"/>
            </a:pPr>
            <a:r>
              <a:rPr lang="en-US" sz="2694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Final dataset size → ~5000 samples</a:t>
            </a:r>
          </a:p>
          <a:p>
            <a:pPr algn="l">
              <a:lnSpc>
                <a:spcPts val="3771"/>
              </a:lnSpc>
            </a:pPr>
          </a:p>
          <a:p>
            <a:pPr algn="l">
              <a:lnSpc>
                <a:spcPts val="3771"/>
              </a:lnSpc>
            </a:pPr>
          </a:p>
        </p:txBody>
      </p:sp>
      <p:grpSp>
        <p:nvGrpSpPr>
          <p:cNvPr name="Group 10" id="10"/>
          <p:cNvGrpSpPr/>
          <p:nvPr/>
        </p:nvGrpSpPr>
        <p:grpSpPr>
          <a:xfrm rot="340972">
            <a:off x="96768" y="795216"/>
            <a:ext cx="2056545" cy="2056545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69BFA5"/>
            </a:solidFill>
            <a:ln w="19050" cap="sq">
              <a:solidFill>
                <a:srgbClr val="000001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190500" y="200025"/>
              <a:ext cx="431800" cy="422275"/>
            </a:xfrm>
            <a:prstGeom prst="rect">
              <a:avLst/>
            </a:prstGeom>
          </p:spPr>
          <p:txBody>
            <a:bodyPr anchor="ctr" rtlCol="false" tIns="24208" lIns="24208" bIns="24208" rIns="24208"/>
            <a:lstStyle/>
            <a:p>
              <a:pPr algn="ctr" marL="0" indent="0" lvl="0">
                <a:lnSpc>
                  <a:spcPts val="831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-593222">
            <a:off x="17538297" y="8742476"/>
            <a:ext cx="1031648" cy="1031648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69BFA5"/>
            </a:solidFill>
            <a:ln w="19050" cap="sq">
              <a:solidFill>
                <a:srgbClr val="000001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190500" y="200025"/>
              <a:ext cx="431800" cy="422275"/>
            </a:xfrm>
            <a:prstGeom prst="rect">
              <a:avLst/>
            </a:prstGeom>
          </p:spPr>
          <p:txBody>
            <a:bodyPr anchor="ctr" rtlCol="false" tIns="24208" lIns="24208" bIns="24208" rIns="24208"/>
            <a:lstStyle/>
            <a:p>
              <a:pPr algn="ctr" marL="0" indent="0" lvl="0">
                <a:lnSpc>
                  <a:spcPts val="831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-1367090">
            <a:off x="314841" y="3038181"/>
            <a:ext cx="521026" cy="455897"/>
            <a:chOff x="0" y="0"/>
            <a:chExt cx="812800" cy="711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12472" y="17246"/>
              <a:ext cx="787856" cy="693954"/>
            </a:xfrm>
            <a:custGeom>
              <a:avLst/>
              <a:gdLst/>
              <a:ahLst/>
              <a:cxnLst/>
              <a:rect r="r" b="b" t="t" l="l"/>
              <a:pathLst>
                <a:path h="693954" w="787856">
                  <a:moveTo>
                    <a:pt x="408672" y="8556"/>
                  </a:moveTo>
                  <a:lnTo>
                    <a:pt x="785584" y="668152"/>
                  </a:lnTo>
                  <a:cubicBezTo>
                    <a:pt x="788634" y="673489"/>
                    <a:pt x="788612" y="680047"/>
                    <a:pt x="785526" y="685364"/>
                  </a:cubicBezTo>
                  <a:cubicBezTo>
                    <a:pt x="782441" y="690681"/>
                    <a:pt x="776758" y="693954"/>
                    <a:pt x="770610" y="693954"/>
                  </a:cubicBezTo>
                  <a:lnTo>
                    <a:pt x="17246" y="693954"/>
                  </a:lnTo>
                  <a:cubicBezTo>
                    <a:pt x="11098" y="693954"/>
                    <a:pt x="5415" y="690681"/>
                    <a:pt x="2330" y="685364"/>
                  </a:cubicBezTo>
                  <a:cubicBezTo>
                    <a:pt x="-756" y="680047"/>
                    <a:pt x="-778" y="673489"/>
                    <a:pt x="2272" y="668152"/>
                  </a:cubicBezTo>
                  <a:lnTo>
                    <a:pt x="379184" y="8556"/>
                  </a:lnTo>
                  <a:cubicBezTo>
                    <a:pt x="382207" y="3265"/>
                    <a:pt x="387834" y="0"/>
                    <a:pt x="393928" y="0"/>
                  </a:cubicBezTo>
                  <a:cubicBezTo>
                    <a:pt x="400022" y="0"/>
                    <a:pt x="405649" y="3265"/>
                    <a:pt x="408672" y="8556"/>
                  </a:cubicBezTo>
                  <a:close/>
                </a:path>
              </a:pathLst>
            </a:custGeom>
            <a:solidFill>
              <a:srgbClr val="FFFDF9"/>
            </a:solidFill>
            <a:ln w="19050" cap="sq">
              <a:solidFill>
                <a:srgbClr val="000001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127000" y="339725"/>
              <a:ext cx="558800" cy="320675"/>
            </a:xfrm>
            <a:prstGeom prst="rect">
              <a:avLst/>
            </a:prstGeom>
          </p:spPr>
          <p:txBody>
            <a:bodyPr anchor="ctr" rtlCol="false" tIns="24208" lIns="24208" bIns="24208" rIns="24208"/>
            <a:lstStyle/>
            <a:p>
              <a:pPr algn="ctr" marL="0" indent="0" lvl="0">
                <a:lnSpc>
                  <a:spcPts val="831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725993">
            <a:off x="17301294" y="7827495"/>
            <a:ext cx="521026" cy="455897"/>
            <a:chOff x="0" y="0"/>
            <a:chExt cx="812800" cy="711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2472" y="17246"/>
              <a:ext cx="787856" cy="693954"/>
            </a:xfrm>
            <a:custGeom>
              <a:avLst/>
              <a:gdLst/>
              <a:ahLst/>
              <a:cxnLst/>
              <a:rect r="r" b="b" t="t" l="l"/>
              <a:pathLst>
                <a:path h="693954" w="787856">
                  <a:moveTo>
                    <a:pt x="408672" y="8556"/>
                  </a:moveTo>
                  <a:lnTo>
                    <a:pt x="785584" y="668152"/>
                  </a:lnTo>
                  <a:cubicBezTo>
                    <a:pt x="788634" y="673489"/>
                    <a:pt x="788612" y="680047"/>
                    <a:pt x="785526" y="685364"/>
                  </a:cubicBezTo>
                  <a:cubicBezTo>
                    <a:pt x="782441" y="690681"/>
                    <a:pt x="776758" y="693954"/>
                    <a:pt x="770610" y="693954"/>
                  </a:cubicBezTo>
                  <a:lnTo>
                    <a:pt x="17246" y="693954"/>
                  </a:lnTo>
                  <a:cubicBezTo>
                    <a:pt x="11098" y="693954"/>
                    <a:pt x="5415" y="690681"/>
                    <a:pt x="2330" y="685364"/>
                  </a:cubicBezTo>
                  <a:cubicBezTo>
                    <a:pt x="-756" y="680047"/>
                    <a:pt x="-778" y="673489"/>
                    <a:pt x="2272" y="668152"/>
                  </a:cubicBezTo>
                  <a:lnTo>
                    <a:pt x="379184" y="8556"/>
                  </a:lnTo>
                  <a:cubicBezTo>
                    <a:pt x="382207" y="3265"/>
                    <a:pt x="387834" y="0"/>
                    <a:pt x="393928" y="0"/>
                  </a:cubicBezTo>
                  <a:cubicBezTo>
                    <a:pt x="400022" y="0"/>
                    <a:pt x="405649" y="3265"/>
                    <a:pt x="408672" y="8556"/>
                  </a:cubicBezTo>
                  <a:close/>
                </a:path>
              </a:pathLst>
            </a:custGeom>
            <a:solidFill>
              <a:srgbClr val="FFFDF9"/>
            </a:solidFill>
            <a:ln w="19050" cap="sq">
              <a:solidFill>
                <a:srgbClr val="000001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127000" y="339725"/>
              <a:ext cx="558800" cy="320675"/>
            </a:xfrm>
            <a:prstGeom prst="rect">
              <a:avLst/>
            </a:prstGeom>
          </p:spPr>
          <p:txBody>
            <a:bodyPr anchor="ctr" rtlCol="false" tIns="24208" lIns="24208" bIns="24208" rIns="24208"/>
            <a:lstStyle/>
            <a:p>
              <a:pPr algn="ctr" marL="0" indent="0" lvl="0">
                <a:lnSpc>
                  <a:spcPts val="831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-4246475">
            <a:off x="1789924" y="248566"/>
            <a:ext cx="426964" cy="373593"/>
            <a:chOff x="0" y="0"/>
            <a:chExt cx="812800" cy="7112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15220" y="21045"/>
              <a:ext cx="782361" cy="690155"/>
            </a:xfrm>
            <a:custGeom>
              <a:avLst/>
              <a:gdLst/>
              <a:ahLst/>
              <a:cxnLst/>
              <a:rect r="r" b="b" t="t" l="l"/>
              <a:pathLst>
                <a:path h="690155" w="782361">
                  <a:moveTo>
                    <a:pt x="409172" y="10442"/>
                  </a:moveTo>
                  <a:lnTo>
                    <a:pt x="779588" y="658668"/>
                  </a:lnTo>
                  <a:cubicBezTo>
                    <a:pt x="783310" y="665182"/>
                    <a:pt x="783283" y="673184"/>
                    <a:pt x="779517" y="679673"/>
                  </a:cubicBezTo>
                  <a:cubicBezTo>
                    <a:pt x="775752" y="686161"/>
                    <a:pt x="768817" y="690155"/>
                    <a:pt x="761315" y="690155"/>
                  </a:cubicBezTo>
                  <a:lnTo>
                    <a:pt x="21045" y="690155"/>
                  </a:lnTo>
                  <a:cubicBezTo>
                    <a:pt x="13543" y="690155"/>
                    <a:pt x="6608" y="686161"/>
                    <a:pt x="2843" y="679673"/>
                  </a:cubicBezTo>
                  <a:cubicBezTo>
                    <a:pt x="-923" y="673184"/>
                    <a:pt x="-950" y="665182"/>
                    <a:pt x="2772" y="658668"/>
                  </a:cubicBezTo>
                  <a:lnTo>
                    <a:pt x="373188" y="10442"/>
                  </a:lnTo>
                  <a:cubicBezTo>
                    <a:pt x="376877" y="3985"/>
                    <a:pt x="383743" y="0"/>
                    <a:pt x="391180" y="0"/>
                  </a:cubicBezTo>
                  <a:cubicBezTo>
                    <a:pt x="398617" y="0"/>
                    <a:pt x="405483" y="3985"/>
                    <a:pt x="409172" y="10442"/>
                  </a:cubicBezTo>
                  <a:close/>
                </a:path>
              </a:pathLst>
            </a:custGeom>
            <a:solidFill>
              <a:srgbClr val="FFFDF9"/>
            </a:solidFill>
            <a:ln w="19050" cap="sq">
              <a:solidFill>
                <a:srgbClr val="000001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127000" y="339725"/>
              <a:ext cx="558800" cy="320675"/>
            </a:xfrm>
            <a:prstGeom prst="rect">
              <a:avLst/>
            </a:prstGeom>
          </p:spPr>
          <p:txBody>
            <a:bodyPr anchor="ctr" rtlCol="false" tIns="24208" lIns="24208" bIns="24208" rIns="24208"/>
            <a:lstStyle/>
            <a:p>
              <a:pPr algn="ctr" marL="0" indent="0" lvl="0">
                <a:lnSpc>
                  <a:spcPts val="831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-4362519">
            <a:off x="17002098" y="9927592"/>
            <a:ext cx="426964" cy="373593"/>
            <a:chOff x="0" y="0"/>
            <a:chExt cx="812800" cy="7112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15220" y="21045"/>
              <a:ext cx="782361" cy="690155"/>
            </a:xfrm>
            <a:custGeom>
              <a:avLst/>
              <a:gdLst/>
              <a:ahLst/>
              <a:cxnLst/>
              <a:rect r="r" b="b" t="t" l="l"/>
              <a:pathLst>
                <a:path h="690155" w="782361">
                  <a:moveTo>
                    <a:pt x="409172" y="10442"/>
                  </a:moveTo>
                  <a:lnTo>
                    <a:pt x="779588" y="658668"/>
                  </a:lnTo>
                  <a:cubicBezTo>
                    <a:pt x="783310" y="665182"/>
                    <a:pt x="783283" y="673184"/>
                    <a:pt x="779517" y="679673"/>
                  </a:cubicBezTo>
                  <a:cubicBezTo>
                    <a:pt x="775752" y="686161"/>
                    <a:pt x="768817" y="690155"/>
                    <a:pt x="761315" y="690155"/>
                  </a:cubicBezTo>
                  <a:lnTo>
                    <a:pt x="21045" y="690155"/>
                  </a:lnTo>
                  <a:cubicBezTo>
                    <a:pt x="13543" y="690155"/>
                    <a:pt x="6608" y="686161"/>
                    <a:pt x="2843" y="679673"/>
                  </a:cubicBezTo>
                  <a:cubicBezTo>
                    <a:pt x="-923" y="673184"/>
                    <a:pt x="-950" y="665182"/>
                    <a:pt x="2772" y="658668"/>
                  </a:cubicBezTo>
                  <a:lnTo>
                    <a:pt x="373188" y="10442"/>
                  </a:lnTo>
                  <a:cubicBezTo>
                    <a:pt x="376877" y="3985"/>
                    <a:pt x="383743" y="0"/>
                    <a:pt x="391180" y="0"/>
                  </a:cubicBezTo>
                  <a:cubicBezTo>
                    <a:pt x="398617" y="0"/>
                    <a:pt x="405483" y="3985"/>
                    <a:pt x="409172" y="10442"/>
                  </a:cubicBezTo>
                  <a:close/>
                </a:path>
              </a:pathLst>
            </a:custGeom>
            <a:solidFill>
              <a:srgbClr val="FFFDF9"/>
            </a:solidFill>
            <a:ln w="19050" cap="sq">
              <a:solidFill>
                <a:srgbClr val="000001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127000" y="339725"/>
              <a:ext cx="558800" cy="320675"/>
            </a:xfrm>
            <a:prstGeom prst="rect">
              <a:avLst/>
            </a:prstGeom>
          </p:spPr>
          <p:txBody>
            <a:bodyPr anchor="ctr" rtlCol="false" tIns="24208" lIns="24208" bIns="24208" rIns="24208"/>
            <a:lstStyle/>
            <a:p>
              <a:pPr algn="ctr" marL="0" indent="0" lvl="0">
                <a:lnSpc>
                  <a:spcPts val="831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FE29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8077" y="541168"/>
            <a:ext cx="17107484" cy="9218183"/>
            <a:chOff x="0" y="0"/>
            <a:chExt cx="4505675" cy="24278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05675" cy="2427834"/>
            </a:xfrm>
            <a:custGeom>
              <a:avLst/>
              <a:gdLst/>
              <a:ahLst/>
              <a:cxnLst/>
              <a:rect r="r" b="b" t="t" l="l"/>
              <a:pathLst>
                <a:path h="2427834" w="4505675">
                  <a:moveTo>
                    <a:pt x="4525" y="0"/>
                  </a:moveTo>
                  <a:lnTo>
                    <a:pt x="4501149" y="0"/>
                  </a:lnTo>
                  <a:cubicBezTo>
                    <a:pt x="4502349" y="0"/>
                    <a:pt x="4503500" y="477"/>
                    <a:pt x="4504349" y="1325"/>
                  </a:cubicBezTo>
                  <a:cubicBezTo>
                    <a:pt x="4505198" y="2174"/>
                    <a:pt x="4505675" y="3325"/>
                    <a:pt x="4505675" y="4525"/>
                  </a:cubicBezTo>
                  <a:lnTo>
                    <a:pt x="4505675" y="2423309"/>
                  </a:lnTo>
                  <a:cubicBezTo>
                    <a:pt x="4505675" y="2424509"/>
                    <a:pt x="4505198" y="2425660"/>
                    <a:pt x="4504349" y="2426509"/>
                  </a:cubicBezTo>
                  <a:cubicBezTo>
                    <a:pt x="4503500" y="2427357"/>
                    <a:pt x="4502349" y="2427834"/>
                    <a:pt x="4501149" y="2427834"/>
                  </a:cubicBezTo>
                  <a:lnTo>
                    <a:pt x="4525" y="2427834"/>
                  </a:lnTo>
                  <a:cubicBezTo>
                    <a:pt x="3325" y="2427834"/>
                    <a:pt x="2174" y="2427357"/>
                    <a:pt x="1325" y="2426509"/>
                  </a:cubicBezTo>
                  <a:cubicBezTo>
                    <a:pt x="477" y="2425660"/>
                    <a:pt x="0" y="2424509"/>
                    <a:pt x="0" y="2423309"/>
                  </a:cubicBezTo>
                  <a:lnTo>
                    <a:pt x="0" y="4525"/>
                  </a:lnTo>
                  <a:cubicBezTo>
                    <a:pt x="0" y="3325"/>
                    <a:pt x="477" y="2174"/>
                    <a:pt x="1325" y="1325"/>
                  </a:cubicBezTo>
                  <a:cubicBezTo>
                    <a:pt x="2174" y="477"/>
                    <a:pt x="3325" y="0"/>
                    <a:pt x="4525" y="0"/>
                  </a:cubicBezTo>
                  <a:close/>
                </a:path>
              </a:pathLst>
            </a:custGeom>
            <a:solidFill>
              <a:srgbClr val="FFFDF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05675" cy="24659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j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693134" y="1943091"/>
            <a:ext cx="12135786" cy="7219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</a:p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Tokenizer</a:t>
            </a:r>
          </a:p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GPT-2 Tokenizer</a:t>
            </a:r>
          </a:p>
          <a:p>
            <a:pPr algn="l">
              <a:lnSpc>
                <a:spcPts val="3919"/>
              </a:lnSpc>
            </a:pPr>
            <a:r>
              <a:rPr lang="en-US" sz="2799" i="true">
                <a:solidFill>
                  <a:srgbClr val="000000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tokenizer.pad_token = tokenizer.eos_token</a:t>
            </a:r>
          </a:p>
          <a:p>
            <a:pPr algn="l">
              <a:lnSpc>
                <a:spcPts val="4199"/>
              </a:lnSpc>
            </a:pPr>
          </a:p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Why This Matters</a:t>
            </a:r>
          </a:p>
          <a:p>
            <a:pPr algn="l" marL="647622" indent="-323811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GPT2 has no default PAD token</a:t>
            </a:r>
          </a:p>
          <a:p>
            <a:pPr algn="l" marL="647622" indent="-323811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Using EOS prevents vocab mismatch</a:t>
            </a:r>
          </a:p>
          <a:p>
            <a:pPr algn="l" marL="647622" indent="-323811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Enables batch training with padding</a:t>
            </a:r>
          </a:p>
          <a:p>
            <a:pPr algn="l">
              <a:lnSpc>
                <a:spcPts val="4199"/>
              </a:lnSpc>
            </a:pPr>
          </a:p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Training Safeguard</a:t>
            </a:r>
          </a:p>
          <a:p>
            <a:pPr algn="l">
              <a:lnSpc>
                <a:spcPts val="3639"/>
              </a:lnSpc>
            </a:pPr>
            <a:r>
              <a:rPr lang="en-US" sz="2599" i="true">
                <a:solidFill>
                  <a:srgbClr val="000000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CrossEntropyLoss(ignore_index = PAD_ID)</a:t>
            </a:r>
          </a:p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Padding tokens do NOT affect loss.</a:t>
            </a:r>
          </a:p>
          <a:p>
            <a:pPr algn="l">
              <a:lnSpc>
                <a:spcPts val="419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5466938" y="798600"/>
            <a:ext cx="6976616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Tok</a:t>
            </a:r>
            <a:r>
              <a:rPr lang="en-US" b="true" sz="5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enization Strategy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189B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901719"/>
            <a:ext cx="16230600" cy="6516177"/>
            <a:chOff x="0" y="0"/>
            <a:chExt cx="4274726" cy="17161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1716195"/>
            </a:xfrm>
            <a:custGeom>
              <a:avLst/>
              <a:gdLst/>
              <a:ahLst/>
              <a:cxnLst/>
              <a:rect r="r" b="b" t="t" l="l"/>
              <a:pathLst>
                <a:path h="1716195" w="4274726">
                  <a:moveTo>
                    <a:pt x="4770" y="0"/>
                  </a:moveTo>
                  <a:lnTo>
                    <a:pt x="4269956" y="0"/>
                  </a:lnTo>
                  <a:cubicBezTo>
                    <a:pt x="4271221" y="0"/>
                    <a:pt x="4272434" y="503"/>
                    <a:pt x="4273329" y="1397"/>
                  </a:cubicBezTo>
                  <a:cubicBezTo>
                    <a:pt x="4274223" y="2292"/>
                    <a:pt x="4274726" y="3505"/>
                    <a:pt x="4274726" y="4770"/>
                  </a:cubicBezTo>
                  <a:lnTo>
                    <a:pt x="4274726" y="1711425"/>
                  </a:lnTo>
                  <a:cubicBezTo>
                    <a:pt x="4274726" y="1712690"/>
                    <a:pt x="4274223" y="1713903"/>
                    <a:pt x="4273329" y="1714798"/>
                  </a:cubicBezTo>
                  <a:cubicBezTo>
                    <a:pt x="4272434" y="1715692"/>
                    <a:pt x="4271221" y="1716195"/>
                    <a:pt x="4269956" y="1716195"/>
                  </a:cubicBezTo>
                  <a:lnTo>
                    <a:pt x="4770" y="1716195"/>
                  </a:lnTo>
                  <a:cubicBezTo>
                    <a:pt x="3505" y="1716195"/>
                    <a:pt x="2292" y="1715692"/>
                    <a:pt x="1397" y="1714798"/>
                  </a:cubicBezTo>
                  <a:cubicBezTo>
                    <a:pt x="503" y="1713903"/>
                    <a:pt x="0" y="1712690"/>
                    <a:pt x="0" y="1711425"/>
                  </a:cubicBezTo>
                  <a:lnTo>
                    <a:pt x="0" y="4770"/>
                  </a:lnTo>
                  <a:cubicBezTo>
                    <a:pt x="0" y="3505"/>
                    <a:pt x="503" y="2292"/>
                    <a:pt x="1397" y="1397"/>
                  </a:cubicBezTo>
                  <a:cubicBezTo>
                    <a:pt x="2292" y="503"/>
                    <a:pt x="3505" y="0"/>
                    <a:pt x="4770" y="0"/>
                  </a:cubicBezTo>
                  <a:close/>
                </a:path>
              </a:pathLst>
            </a:custGeom>
            <a:solidFill>
              <a:srgbClr val="FFFDF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17542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j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685824" y="1791380"/>
            <a:ext cx="10321283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 b="true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Model Architecture</a:t>
            </a:r>
          </a:p>
        </p:txBody>
      </p:sp>
      <p:grpSp>
        <p:nvGrpSpPr>
          <p:cNvPr name="Group 6" id="6"/>
          <p:cNvGrpSpPr/>
          <p:nvPr/>
        </p:nvGrpSpPr>
        <p:grpSpPr>
          <a:xfrm rot="660254">
            <a:off x="15874978" y="1113028"/>
            <a:ext cx="977742" cy="977742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E298"/>
            </a:solidFill>
            <a:ln w="19050" cap="sq">
              <a:solidFill>
                <a:srgbClr val="000001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90500" y="200025"/>
              <a:ext cx="431800" cy="422275"/>
            </a:xfrm>
            <a:prstGeom prst="rect">
              <a:avLst/>
            </a:prstGeom>
          </p:spPr>
          <p:txBody>
            <a:bodyPr anchor="ctr" rtlCol="false" tIns="24208" lIns="24208" bIns="24208" rIns="24208"/>
            <a:lstStyle/>
            <a:p>
              <a:pPr algn="ctr" marL="0" indent="0" lvl="0">
                <a:lnSpc>
                  <a:spcPts val="831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2318060">
            <a:off x="15319837" y="290144"/>
            <a:ext cx="481365" cy="481365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E298"/>
            </a:solidFill>
            <a:ln w="19050" cap="sq">
              <a:solidFill>
                <a:srgbClr val="000001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190500" y="200025"/>
              <a:ext cx="431800" cy="422275"/>
            </a:xfrm>
            <a:prstGeom prst="rect">
              <a:avLst/>
            </a:prstGeom>
          </p:spPr>
          <p:txBody>
            <a:bodyPr anchor="ctr" rtlCol="false" tIns="24208" lIns="24208" bIns="24208" rIns="24208"/>
            <a:lstStyle/>
            <a:p>
              <a:pPr algn="ctr" marL="0" indent="0" lvl="0">
                <a:lnSpc>
                  <a:spcPts val="831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-2318060">
            <a:off x="17356895" y="1934415"/>
            <a:ext cx="481365" cy="481365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E298"/>
            </a:solidFill>
            <a:ln w="19050" cap="sq">
              <a:solidFill>
                <a:srgbClr val="000001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190500" y="200025"/>
              <a:ext cx="431800" cy="422275"/>
            </a:xfrm>
            <a:prstGeom prst="rect">
              <a:avLst/>
            </a:prstGeom>
          </p:spPr>
          <p:txBody>
            <a:bodyPr anchor="ctr" rtlCol="false" tIns="24208" lIns="24208" bIns="24208" rIns="24208"/>
            <a:lstStyle/>
            <a:p>
              <a:pPr algn="ctr" marL="0" indent="0" lvl="0">
                <a:lnSpc>
                  <a:spcPts val="831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685824" y="3642299"/>
            <a:ext cx="8296166" cy="3895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8"/>
              </a:lnSpc>
              <a:spcBef>
                <a:spcPct val="0"/>
              </a:spcBef>
            </a:pPr>
            <a:r>
              <a:rPr lang="en-US" sz="22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Core Architecture: Seq2Seq LSTM</a:t>
            </a:r>
          </a:p>
          <a:p>
            <a:pPr algn="l">
              <a:lnSpc>
                <a:spcPts val="3138"/>
              </a:lnSpc>
              <a:spcBef>
                <a:spcPct val="0"/>
              </a:spcBef>
            </a:pPr>
          </a:p>
          <a:p>
            <a:pPr algn="l">
              <a:lnSpc>
                <a:spcPts val="3138"/>
              </a:lnSpc>
              <a:spcBef>
                <a:spcPct val="0"/>
              </a:spcBef>
            </a:pPr>
            <a:r>
              <a:rPr lang="en-US" sz="22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Components:</a:t>
            </a:r>
          </a:p>
          <a:p>
            <a:pPr algn="l">
              <a:lnSpc>
                <a:spcPts val="3138"/>
              </a:lnSpc>
              <a:spcBef>
                <a:spcPct val="0"/>
              </a:spcBef>
            </a:pPr>
            <a:r>
              <a:rPr lang="en-US" sz="2241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Embedding Layer: nn.Embedding(VOCAB_SIZE, EMBED_DIM)</a:t>
            </a:r>
          </a:p>
          <a:p>
            <a:pPr algn="l">
              <a:lnSpc>
                <a:spcPts val="3138"/>
              </a:lnSpc>
              <a:spcBef>
                <a:spcPct val="0"/>
              </a:spcBef>
            </a:pPr>
            <a:r>
              <a:rPr lang="en-US" sz="22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Encoder</a:t>
            </a:r>
          </a:p>
          <a:p>
            <a:pPr algn="l" marL="483995" indent="-241998" lvl="1">
              <a:lnSpc>
                <a:spcPts val="3138"/>
              </a:lnSpc>
              <a:spcBef>
                <a:spcPct val="0"/>
              </a:spcBef>
              <a:buFont typeface="Arial"/>
              <a:buChar char="•"/>
            </a:pPr>
            <a:r>
              <a:rPr lang="en-US" sz="22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Processes seed line</a:t>
            </a:r>
          </a:p>
          <a:p>
            <a:pPr algn="l" marL="483995" indent="-241998" lvl="1">
              <a:lnSpc>
                <a:spcPts val="3138"/>
              </a:lnSpc>
              <a:spcBef>
                <a:spcPct val="0"/>
              </a:spcBef>
              <a:buFont typeface="Arial"/>
              <a:buChar char="•"/>
            </a:pPr>
            <a:r>
              <a:rPr lang="en-US" sz="22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Produces hidden + cell state</a:t>
            </a:r>
          </a:p>
          <a:p>
            <a:pPr algn="l">
              <a:lnSpc>
                <a:spcPts val="3138"/>
              </a:lnSpc>
              <a:spcBef>
                <a:spcPct val="0"/>
              </a:spcBef>
            </a:pPr>
            <a:r>
              <a:rPr lang="en-US" sz="22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Decoder</a:t>
            </a:r>
          </a:p>
          <a:p>
            <a:pPr algn="l" marL="483995" indent="-241998" lvl="1">
              <a:lnSpc>
                <a:spcPts val="3138"/>
              </a:lnSpc>
              <a:spcBef>
                <a:spcPct val="0"/>
              </a:spcBef>
              <a:buFont typeface="Arial"/>
              <a:buChar char="•"/>
            </a:pPr>
            <a:r>
              <a:rPr lang="en-US" sz="22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Generates next line token-by-token</a:t>
            </a:r>
          </a:p>
          <a:p>
            <a:pPr algn="l">
              <a:lnSpc>
                <a:spcPts val="3138"/>
              </a:lnSpc>
              <a:spcBef>
                <a:spcPct val="0"/>
              </a:spcBef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406208" y="7618091"/>
            <a:ext cx="7201868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sz="2099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O</a:t>
            </a:r>
            <a:r>
              <a:rPr lang="en-US" sz="2099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utput Layer: nn.Linear(HIDDEN_DIM, VOCAB_SIZE)</a:t>
            </a:r>
          </a:p>
          <a:p>
            <a:pPr algn="ctr">
              <a:lnSpc>
                <a:spcPts val="293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69BFA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703069"/>
            <a:ext cx="13095581" cy="1930578"/>
            <a:chOff x="0" y="0"/>
            <a:chExt cx="3449042" cy="50846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49042" cy="508465"/>
            </a:xfrm>
            <a:custGeom>
              <a:avLst/>
              <a:gdLst/>
              <a:ahLst/>
              <a:cxnLst/>
              <a:rect r="r" b="b" t="t" l="l"/>
              <a:pathLst>
                <a:path h="508465" w="3449042">
                  <a:moveTo>
                    <a:pt x="15962" y="0"/>
                  </a:moveTo>
                  <a:lnTo>
                    <a:pt x="3433080" y="0"/>
                  </a:lnTo>
                  <a:cubicBezTo>
                    <a:pt x="3441895" y="0"/>
                    <a:pt x="3449042" y="7146"/>
                    <a:pt x="3449042" y="15962"/>
                  </a:cubicBezTo>
                  <a:lnTo>
                    <a:pt x="3449042" y="492503"/>
                  </a:lnTo>
                  <a:cubicBezTo>
                    <a:pt x="3449042" y="496736"/>
                    <a:pt x="3447360" y="500796"/>
                    <a:pt x="3444367" y="503790"/>
                  </a:cubicBezTo>
                  <a:cubicBezTo>
                    <a:pt x="3441373" y="506783"/>
                    <a:pt x="3437313" y="508465"/>
                    <a:pt x="3433080" y="508465"/>
                  </a:cubicBezTo>
                  <a:lnTo>
                    <a:pt x="15962" y="508465"/>
                  </a:lnTo>
                  <a:cubicBezTo>
                    <a:pt x="7146" y="508465"/>
                    <a:pt x="0" y="501319"/>
                    <a:pt x="0" y="492503"/>
                  </a:cubicBezTo>
                  <a:lnTo>
                    <a:pt x="0" y="15962"/>
                  </a:lnTo>
                  <a:cubicBezTo>
                    <a:pt x="0" y="7146"/>
                    <a:pt x="7146" y="0"/>
                    <a:pt x="15962" y="0"/>
                  </a:cubicBezTo>
                  <a:close/>
                </a:path>
              </a:pathLst>
            </a:custGeom>
            <a:solidFill>
              <a:srgbClr val="FFE298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449042" cy="5465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2245151"/>
            <a:ext cx="16169566" cy="7087747"/>
            <a:chOff x="0" y="0"/>
            <a:chExt cx="4258651" cy="186673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58651" cy="1866732"/>
            </a:xfrm>
            <a:custGeom>
              <a:avLst/>
              <a:gdLst/>
              <a:ahLst/>
              <a:cxnLst/>
              <a:rect r="r" b="b" t="t" l="l"/>
              <a:pathLst>
                <a:path h="1866732" w="4258651">
                  <a:moveTo>
                    <a:pt x="4788" y="0"/>
                  </a:moveTo>
                  <a:lnTo>
                    <a:pt x="4253863" y="0"/>
                  </a:lnTo>
                  <a:cubicBezTo>
                    <a:pt x="4256507" y="0"/>
                    <a:pt x="4258651" y="2144"/>
                    <a:pt x="4258651" y="4788"/>
                  </a:cubicBezTo>
                  <a:lnTo>
                    <a:pt x="4258651" y="1861944"/>
                  </a:lnTo>
                  <a:cubicBezTo>
                    <a:pt x="4258651" y="1864588"/>
                    <a:pt x="4256507" y="1866732"/>
                    <a:pt x="4253863" y="1866732"/>
                  </a:cubicBezTo>
                  <a:lnTo>
                    <a:pt x="4788" y="1866732"/>
                  </a:lnTo>
                  <a:cubicBezTo>
                    <a:pt x="2144" y="1866732"/>
                    <a:pt x="0" y="1864588"/>
                    <a:pt x="0" y="1861944"/>
                  </a:cubicBezTo>
                  <a:lnTo>
                    <a:pt x="0" y="4788"/>
                  </a:lnTo>
                  <a:cubicBezTo>
                    <a:pt x="0" y="2144"/>
                    <a:pt x="2144" y="0"/>
                    <a:pt x="4788" y="0"/>
                  </a:cubicBezTo>
                  <a:close/>
                </a:path>
              </a:pathLst>
            </a:custGeom>
            <a:solidFill>
              <a:srgbClr val="FFFDF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258651" cy="19048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497796" y="933450"/>
            <a:ext cx="1215738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Training Pipeline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300001" y="3229683"/>
            <a:ext cx="5792388" cy="5061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47"/>
              </a:lnSpc>
            </a:pPr>
            <a:r>
              <a:rPr lang="en-US" sz="289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Teacher Forcing Training</a:t>
            </a:r>
          </a:p>
          <a:p>
            <a:pPr algn="just">
              <a:lnSpc>
                <a:spcPts val="4047"/>
              </a:lnSpc>
            </a:pPr>
            <a:r>
              <a:rPr lang="en-US" sz="289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Decoder Input: target[:, :-1]</a:t>
            </a:r>
          </a:p>
          <a:p>
            <a:pPr algn="just">
              <a:lnSpc>
                <a:spcPts val="4047"/>
              </a:lnSpc>
            </a:pPr>
            <a:r>
              <a:rPr lang="en-US" sz="289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Decoder Target: target[:, 1:]</a:t>
            </a:r>
          </a:p>
          <a:p>
            <a:pPr algn="just">
              <a:lnSpc>
                <a:spcPts val="4047"/>
              </a:lnSpc>
            </a:pPr>
            <a:r>
              <a:rPr lang="en-US" sz="289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Optimization</a:t>
            </a:r>
          </a:p>
          <a:p>
            <a:pPr algn="just" marL="624138" indent="-312069" lvl="1">
              <a:lnSpc>
                <a:spcPts val="4047"/>
              </a:lnSpc>
              <a:buFont typeface="Arial"/>
              <a:buChar char="•"/>
            </a:pPr>
            <a:r>
              <a:rPr lang="en-US" sz="289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Optimizer → Adam</a:t>
            </a:r>
          </a:p>
          <a:p>
            <a:pPr algn="just" marL="624138" indent="-312069" lvl="1">
              <a:lnSpc>
                <a:spcPts val="4047"/>
              </a:lnSpc>
              <a:buFont typeface="Arial"/>
              <a:buChar char="•"/>
            </a:pPr>
            <a:r>
              <a:rPr lang="en-US" sz="289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Loss → CrossEntropy</a:t>
            </a:r>
          </a:p>
          <a:p>
            <a:pPr algn="just" marL="624138" indent="-312069" lvl="1">
              <a:lnSpc>
                <a:spcPts val="4047"/>
              </a:lnSpc>
              <a:buFont typeface="Arial"/>
              <a:buChar char="•"/>
            </a:pPr>
            <a:r>
              <a:rPr lang="en-US" sz="289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Padding Ignored</a:t>
            </a:r>
          </a:p>
          <a:p>
            <a:pPr algn="just">
              <a:lnSpc>
                <a:spcPts val="4047"/>
              </a:lnSpc>
            </a:pPr>
          </a:p>
          <a:p>
            <a:pPr algn="just">
              <a:lnSpc>
                <a:spcPts val="4047"/>
              </a:lnSpc>
            </a:pPr>
          </a:p>
          <a:p>
            <a:pPr algn="just">
              <a:lnSpc>
                <a:spcPts val="4047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8948684" y="3229683"/>
            <a:ext cx="5792388" cy="3030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47"/>
              </a:lnSpc>
            </a:pPr>
            <a:r>
              <a:rPr lang="en-US" sz="289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Contains:</a:t>
            </a:r>
          </a:p>
          <a:p>
            <a:pPr algn="just" marL="624138" indent="-312069" lvl="1">
              <a:lnSpc>
                <a:spcPts val="4047"/>
              </a:lnSpc>
              <a:buFont typeface="Arial"/>
              <a:buChar char="•"/>
            </a:pPr>
            <a:r>
              <a:rPr lang="en-US" sz="289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Embedding</a:t>
            </a:r>
          </a:p>
          <a:p>
            <a:pPr algn="just" marL="624138" indent="-312069" lvl="1">
              <a:lnSpc>
                <a:spcPts val="4047"/>
              </a:lnSpc>
              <a:buFont typeface="Arial"/>
              <a:buChar char="•"/>
            </a:pPr>
            <a:r>
              <a:rPr lang="en-US" sz="289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En</a:t>
            </a:r>
            <a:r>
              <a:rPr lang="en-US" sz="289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coder</a:t>
            </a:r>
          </a:p>
          <a:p>
            <a:pPr algn="just" marL="624138" indent="-312069" lvl="1">
              <a:lnSpc>
                <a:spcPts val="4047"/>
              </a:lnSpc>
              <a:buFont typeface="Arial"/>
              <a:buChar char="•"/>
            </a:pPr>
            <a:r>
              <a:rPr lang="en-US" sz="289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Decoder</a:t>
            </a:r>
          </a:p>
          <a:p>
            <a:pPr algn="just" marL="624138" indent="-312069" lvl="1">
              <a:lnSpc>
                <a:spcPts val="4047"/>
              </a:lnSpc>
              <a:buFont typeface="Arial"/>
              <a:buChar char="•"/>
            </a:pPr>
            <a:r>
              <a:rPr lang="en-US" sz="289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Output Layer</a:t>
            </a:r>
          </a:p>
          <a:p>
            <a:pPr algn="just">
              <a:lnSpc>
                <a:spcPts val="4047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69BFA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703069"/>
            <a:ext cx="8252331" cy="1930578"/>
            <a:chOff x="0" y="0"/>
            <a:chExt cx="2173453" cy="50846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3453" cy="508465"/>
            </a:xfrm>
            <a:custGeom>
              <a:avLst/>
              <a:gdLst/>
              <a:ahLst/>
              <a:cxnLst/>
              <a:rect r="r" b="b" t="t" l="l"/>
              <a:pathLst>
                <a:path h="508465" w="2173453">
                  <a:moveTo>
                    <a:pt x="25330" y="0"/>
                  </a:moveTo>
                  <a:lnTo>
                    <a:pt x="2148123" y="0"/>
                  </a:lnTo>
                  <a:cubicBezTo>
                    <a:pt x="2162113" y="0"/>
                    <a:pt x="2173453" y="11341"/>
                    <a:pt x="2173453" y="25330"/>
                  </a:cubicBezTo>
                  <a:lnTo>
                    <a:pt x="2173453" y="483135"/>
                  </a:lnTo>
                  <a:cubicBezTo>
                    <a:pt x="2173453" y="489853"/>
                    <a:pt x="2170785" y="496296"/>
                    <a:pt x="2166034" y="501046"/>
                  </a:cubicBezTo>
                  <a:cubicBezTo>
                    <a:pt x="2161284" y="505796"/>
                    <a:pt x="2154841" y="508465"/>
                    <a:pt x="2148123" y="508465"/>
                  </a:cubicBezTo>
                  <a:lnTo>
                    <a:pt x="25330" y="508465"/>
                  </a:lnTo>
                  <a:cubicBezTo>
                    <a:pt x="18612" y="508465"/>
                    <a:pt x="12169" y="505796"/>
                    <a:pt x="7419" y="501046"/>
                  </a:cubicBezTo>
                  <a:cubicBezTo>
                    <a:pt x="2669" y="496296"/>
                    <a:pt x="0" y="489853"/>
                    <a:pt x="0" y="483135"/>
                  </a:cubicBezTo>
                  <a:lnTo>
                    <a:pt x="0" y="25330"/>
                  </a:lnTo>
                  <a:cubicBezTo>
                    <a:pt x="0" y="18612"/>
                    <a:pt x="2669" y="12169"/>
                    <a:pt x="7419" y="7419"/>
                  </a:cubicBezTo>
                  <a:cubicBezTo>
                    <a:pt x="12169" y="2669"/>
                    <a:pt x="18612" y="0"/>
                    <a:pt x="25330" y="0"/>
                  </a:cubicBezTo>
                  <a:close/>
                </a:path>
              </a:pathLst>
            </a:custGeom>
            <a:solidFill>
              <a:srgbClr val="F189B9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73453" cy="5465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2245151"/>
            <a:ext cx="16169566" cy="5674468"/>
            <a:chOff x="0" y="0"/>
            <a:chExt cx="4258651" cy="149451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58651" cy="1494510"/>
            </a:xfrm>
            <a:custGeom>
              <a:avLst/>
              <a:gdLst/>
              <a:ahLst/>
              <a:cxnLst/>
              <a:rect r="r" b="b" t="t" l="l"/>
              <a:pathLst>
                <a:path h="1494510" w="4258651">
                  <a:moveTo>
                    <a:pt x="4788" y="0"/>
                  </a:moveTo>
                  <a:lnTo>
                    <a:pt x="4253863" y="0"/>
                  </a:lnTo>
                  <a:cubicBezTo>
                    <a:pt x="4256507" y="0"/>
                    <a:pt x="4258651" y="2144"/>
                    <a:pt x="4258651" y="4788"/>
                  </a:cubicBezTo>
                  <a:lnTo>
                    <a:pt x="4258651" y="1489722"/>
                  </a:lnTo>
                  <a:cubicBezTo>
                    <a:pt x="4258651" y="1490992"/>
                    <a:pt x="4258146" y="1492210"/>
                    <a:pt x="4257249" y="1493108"/>
                  </a:cubicBezTo>
                  <a:cubicBezTo>
                    <a:pt x="4256351" y="1494006"/>
                    <a:pt x="4255133" y="1494510"/>
                    <a:pt x="4253863" y="1494510"/>
                  </a:cubicBezTo>
                  <a:lnTo>
                    <a:pt x="4788" y="1494510"/>
                  </a:lnTo>
                  <a:cubicBezTo>
                    <a:pt x="2144" y="1494510"/>
                    <a:pt x="0" y="1492366"/>
                    <a:pt x="0" y="1489722"/>
                  </a:cubicBezTo>
                  <a:lnTo>
                    <a:pt x="0" y="4788"/>
                  </a:lnTo>
                  <a:cubicBezTo>
                    <a:pt x="0" y="2144"/>
                    <a:pt x="2144" y="0"/>
                    <a:pt x="4788" y="0"/>
                  </a:cubicBezTo>
                  <a:close/>
                </a:path>
              </a:pathLst>
            </a:custGeom>
            <a:solidFill>
              <a:srgbClr val="FFFDF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258651" cy="15326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412886" y="933450"/>
            <a:ext cx="856285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Inference &amp; Generation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092809" y="3125787"/>
            <a:ext cx="9501994" cy="3978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6"/>
              </a:lnSpc>
            </a:pPr>
            <a:r>
              <a:rPr lang="en-US" sz="323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Generation Flow</a:t>
            </a:r>
          </a:p>
          <a:p>
            <a:pPr algn="l" marL="698000" indent="-349000" lvl="1">
              <a:lnSpc>
                <a:spcPts val="4526"/>
              </a:lnSpc>
              <a:buAutoNum type="arabicPeriod" startAt="1"/>
            </a:pPr>
            <a:r>
              <a:rPr lang="en-US" sz="323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Encode seed line</a:t>
            </a:r>
          </a:p>
          <a:p>
            <a:pPr algn="l" marL="698000" indent="-349000" lvl="1">
              <a:lnSpc>
                <a:spcPts val="4526"/>
              </a:lnSpc>
              <a:buAutoNum type="arabicPeriod" startAt="1"/>
            </a:pPr>
            <a:r>
              <a:rPr lang="en-US" sz="323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Extract hidden state</a:t>
            </a:r>
          </a:p>
          <a:p>
            <a:pPr algn="l" marL="698000" indent="-349000" lvl="1">
              <a:lnSpc>
                <a:spcPts val="4526"/>
              </a:lnSpc>
              <a:buAutoNum type="arabicPeriod" startAt="1"/>
            </a:pPr>
            <a:r>
              <a:rPr lang="en-US" sz="323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Autoregressive decoding</a:t>
            </a:r>
          </a:p>
          <a:p>
            <a:pPr algn="l" marL="698000" indent="-349000" lvl="1">
              <a:lnSpc>
                <a:spcPts val="4526"/>
              </a:lnSpc>
              <a:buAutoNum type="arabicPeriod" startAt="1"/>
            </a:pPr>
            <a:r>
              <a:rPr lang="en-US" sz="323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Temperature sampling</a:t>
            </a:r>
          </a:p>
          <a:p>
            <a:pPr algn="l" marL="698000" indent="-349000" lvl="1">
              <a:lnSpc>
                <a:spcPts val="4526"/>
              </a:lnSpc>
              <a:buAutoNum type="arabicPeriod" startAt="1"/>
            </a:pPr>
            <a:r>
              <a:rPr lang="en-US" sz="323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Stop at EOS</a:t>
            </a:r>
          </a:p>
          <a:p>
            <a:pPr algn="l">
              <a:lnSpc>
                <a:spcPts val="4526"/>
              </a:lnSpc>
            </a:pPr>
          </a:p>
        </p:txBody>
      </p:sp>
      <p:grpSp>
        <p:nvGrpSpPr>
          <p:cNvPr name="Group 10" id="10"/>
          <p:cNvGrpSpPr/>
          <p:nvPr/>
        </p:nvGrpSpPr>
        <p:grpSpPr>
          <a:xfrm rot="-1276713">
            <a:off x="13021122" y="-103129"/>
            <a:ext cx="797006" cy="684927"/>
            <a:chOff x="0" y="0"/>
            <a:chExt cx="812800" cy="6985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1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114300" y="9525"/>
              <a:ext cx="584200" cy="688975"/>
            </a:xfrm>
            <a:prstGeom prst="rect">
              <a:avLst/>
            </a:prstGeom>
          </p:spPr>
          <p:txBody>
            <a:bodyPr anchor="ctr" rtlCol="false" tIns="27432" lIns="27432" bIns="27432" rIns="27432"/>
            <a:lstStyle/>
            <a:p>
              <a:pPr algn="ctr" marL="0" indent="0" lvl="0">
                <a:lnSpc>
                  <a:spcPts val="831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-1276713">
            <a:off x="14491844" y="669771"/>
            <a:ext cx="553364" cy="475548"/>
            <a:chOff x="0" y="0"/>
            <a:chExt cx="812800" cy="6985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1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114300" y="9525"/>
              <a:ext cx="584200" cy="688975"/>
            </a:xfrm>
            <a:prstGeom prst="rect">
              <a:avLst/>
            </a:prstGeom>
          </p:spPr>
          <p:txBody>
            <a:bodyPr anchor="ctr" rtlCol="false" tIns="27432" lIns="27432" bIns="27432" rIns="27432"/>
            <a:lstStyle/>
            <a:p>
              <a:pPr algn="ctr" marL="0" indent="0" lvl="0">
                <a:lnSpc>
                  <a:spcPts val="831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-1276713">
            <a:off x="15938974" y="313616"/>
            <a:ext cx="600423" cy="515988"/>
            <a:chOff x="0" y="0"/>
            <a:chExt cx="812800" cy="698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1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114300" y="9525"/>
              <a:ext cx="584200" cy="688975"/>
            </a:xfrm>
            <a:prstGeom prst="rect">
              <a:avLst/>
            </a:prstGeom>
          </p:spPr>
          <p:txBody>
            <a:bodyPr anchor="ctr" rtlCol="false" tIns="27432" lIns="27432" bIns="27432" rIns="27432"/>
            <a:lstStyle/>
            <a:p>
              <a:pPr algn="ctr" marL="0" indent="0" lvl="0">
                <a:lnSpc>
                  <a:spcPts val="831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-1276713">
            <a:off x="17310915" y="892223"/>
            <a:ext cx="423601" cy="364032"/>
            <a:chOff x="0" y="0"/>
            <a:chExt cx="812800" cy="6985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1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114300" y="9525"/>
              <a:ext cx="584200" cy="688975"/>
            </a:xfrm>
            <a:prstGeom prst="rect">
              <a:avLst/>
            </a:prstGeom>
          </p:spPr>
          <p:txBody>
            <a:bodyPr anchor="ctr" rtlCol="false" tIns="27432" lIns="27432" bIns="27432" rIns="27432"/>
            <a:lstStyle/>
            <a:p>
              <a:pPr algn="ctr" marL="0" indent="0" lvl="0">
                <a:lnSpc>
                  <a:spcPts val="831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-1276713">
            <a:off x="18076200" y="1638529"/>
            <a:ext cx="423601" cy="364032"/>
            <a:chOff x="0" y="0"/>
            <a:chExt cx="812800" cy="6985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1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114300" y="9525"/>
              <a:ext cx="584200" cy="688975"/>
            </a:xfrm>
            <a:prstGeom prst="rect">
              <a:avLst/>
            </a:prstGeom>
          </p:spPr>
          <p:txBody>
            <a:bodyPr anchor="ctr" rtlCol="false" tIns="27432" lIns="27432" bIns="27432" rIns="27432"/>
            <a:lstStyle/>
            <a:p>
              <a:pPr algn="ctr" marL="0" indent="0" lvl="0">
                <a:lnSpc>
                  <a:spcPts val="831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52A5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77911" y="733550"/>
            <a:ext cx="13095581" cy="1930578"/>
            <a:chOff x="0" y="0"/>
            <a:chExt cx="3449042" cy="50846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49042" cy="508465"/>
            </a:xfrm>
            <a:custGeom>
              <a:avLst/>
              <a:gdLst/>
              <a:ahLst/>
              <a:cxnLst/>
              <a:rect r="r" b="b" t="t" l="l"/>
              <a:pathLst>
                <a:path h="508465" w="3449042">
                  <a:moveTo>
                    <a:pt x="15962" y="0"/>
                  </a:moveTo>
                  <a:lnTo>
                    <a:pt x="3433080" y="0"/>
                  </a:lnTo>
                  <a:cubicBezTo>
                    <a:pt x="3441895" y="0"/>
                    <a:pt x="3449042" y="7146"/>
                    <a:pt x="3449042" y="15962"/>
                  </a:cubicBezTo>
                  <a:lnTo>
                    <a:pt x="3449042" y="492503"/>
                  </a:lnTo>
                  <a:cubicBezTo>
                    <a:pt x="3449042" y="496736"/>
                    <a:pt x="3447360" y="500796"/>
                    <a:pt x="3444367" y="503790"/>
                  </a:cubicBezTo>
                  <a:cubicBezTo>
                    <a:pt x="3441373" y="506783"/>
                    <a:pt x="3437313" y="508465"/>
                    <a:pt x="3433080" y="508465"/>
                  </a:cubicBezTo>
                  <a:lnTo>
                    <a:pt x="15962" y="508465"/>
                  </a:lnTo>
                  <a:cubicBezTo>
                    <a:pt x="7146" y="508465"/>
                    <a:pt x="0" y="501319"/>
                    <a:pt x="0" y="492503"/>
                  </a:cubicBezTo>
                  <a:lnTo>
                    <a:pt x="0" y="15962"/>
                  </a:lnTo>
                  <a:cubicBezTo>
                    <a:pt x="0" y="7146"/>
                    <a:pt x="7146" y="0"/>
                    <a:pt x="15962" y="0"/>
                  </a:cubicBezTo>
                  <a:close/>
                </a:path>
              </a:pathLst>
            </a:custGeom>
            <a:solidFill>
              <a:srgbClr val="FFE298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449042" cy="5465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77911" y="2275632"/>
            <a:ext cx="16866497" cy="7246140"/>
            <a:chOff x="0" y="0"/>
            <a:chExt cx="4442205" cy="190844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42205" cy="1908448"/>
            </a:xfrm>
            <a:custGeom>
              <a:avLst/>
              <a:gdLst/>
              <a:ahLst/>
              <a:cxnLst/>
              <a:rect r="r" b="b" t="t" l="l"/>
              <a:pathLst>
                <a:path h="1908448" w="4442205">
                  <a:moveTo>
                    <a:pt x="4590" y="0"/>
                  </a:moveTo>
                  <a:lnTo>
                    <a:pt x="4437615" y="0"/>
                  </a:lnTo>
                  <a:cubicBezTo>
                    <a:pt x="4438832" y="0"/>
                    <a:pt x="4440000" y="484"/>
                    <a:pt x="4440860" y="1344"/>
                  </a:cubicBezTo>
                  <a:cubicBezTo>
                    <a:pt x="4441721" y="2205"/>
                    <a:pt x="4442205" y="3373"/>
                    <a:pt x="4442205" y="4590"/>
                  </a:cubicBezTo>
                  <a:lnTo>
                    <a:pt x="4442205" y="1903858"/>
                  </a:lnTo>
                  <a:cubicBezTo>
                    <a:pt x="4442205" y="1906393"/>
                    <a:pt x="4440150" y="1908448"/>
                    <a:pt x="4437615" y="1908448"/>
                  </a:cubicBezTo>
                  <a:lnTo>
                    <a:pt x="4590" y="1908448"/>
                  </a:lnTo>
                  <a:cubicBezTo>
                    <a:pt x="2055" y="1908448"/>
                    <a:pt x="0" y="1906393"/>
                    <a:pt x="0" y="1903858"/>
                  </a:cubicBezTo>
                  <a:lnTo>
                    <a:pt x="0" y="4590"/>
                  </a:lnTo>
                  <a:cubicBezTo>
                    <a:pt x="0" y="2055"/>
                    <a:pt x="2055" y="0"/>
                    <a:pt x="4590" y="0"/>
                  </a:cubicBezTo>
                  <a:close/>
                </a:path>
              </a:pathLst>
            </a:custGeom>
            <a:solidFill>
              <a:srgbClr val="FFFDF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442205" cy="19465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147008" y="963931"/>
            <a:ext cx="1215738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Results &amp; Observations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47008" y="2487346"/>
            <a:ext cx="16649548" cy="3827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Model Capabilities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✔ Maintains poetic structure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✔ Context-aware next line generation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✔ Stable training with small dataset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✔ Low compute requirement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For short structured sequences:  RNN + Conditioning can compete with small Transformers.</a:t>
            </a:r>
          </a:p>
          <a:p>
            <a:pPr algn="l">
              <a:lnSpc>
                <a:spcPts val="4060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244173" y="6248451"/>
            <a:ext cx="16649548" cy="331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Future Improvements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Add Attention Layer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Hierarchical RNN (Line → Poem Level)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</a:t>
            </a: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onditional style embedding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RL fine tuning with human feedback</a:t>
            </a:r>
          </a:p>
          <a:p>
            <a:pPr algn="l">
              <a:lnSpc>
                <a:spcPts val="4060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FE29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678978" y="3391576"/>
            <a:ext cx="12930043" cy="3503848"/>
            <a:chOff x="0" y="0"/>
            <a:chExt cx="3405443" cy="92282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05443" cy="922824"/>
            </a:xfrm>
            <a:custGeom>
              <a:avLst/>
              <a:gdLst/>
              <a:ahLst/>
              <a:cxnLst/>
              <a:rect r="r" b="b" t="t" l="l"/>
              <a:pathLst>
                <a:path h="922824" w="3405443">
                  <a:moveTo>
                    <a:pt x="16166" y="0"/>
                  </a:moveTo>
                  <a:lnTo>
                    <a:pt x="3389277" y="0"/>
                  </a:lnTo>
                  <a:cubicBezTo>
                    <a:pt x="3398205" y="0"/>
                    <a:pt x="3405443" y="7238"/>
                    <a:pt x="3405443" y="16166"/>
                  </a:cubicBezTo>
                  <a:lnTo>
                    <a:pt x="3405443" y="906658"/>
                  </a:lnTo>
                  <a:cubicBezTo>
                    <a:pt x="3405443" y="910945"/>
                    <a:pt x="3403740" y="915057"/>
                    <a:pt x="3400708" y="918089"/>
                  </a:cubicBezTo>
                  <a:cubicBezTo>
                    <a:pt x="3397676" y="921121"/>
                    <a:pt x="3393565" y="922824"/>
                    <a:pt x="3389277" y="922824"/>
                  </a:cubicBezTo>
                  <a:lnTo>
                    <a:pt x="16166" y="922824"/>
                  </a:lnTo>
                  <a:cubicBezTo>
                    <a:pt x="7238" y="922824"/>
                    <a:pt x="0" y="915586"/>
                    <a:pt x="0" y="906658"/>
                  </a:cubicBezTo>
                  <a:lnTo>
                    <a:pt x="0" y="16166"/>
                  </a:lnTo>
                  <a:cubicBezTo>
                    <a:pt x="0" y="7238"/>
                    <a:pt x="7238" y="0"/>
                    <a:pt x="16166" y="0"/>
                  </a:cubicBezTo>
                  <a:close/>
                </a:path>
              </a:pathLst>
            </a:custGeom>
            <a:solidFill>
              <a:srgbClr val="FFFDF9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405443" cy="9609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124449" y="4274503"/>
            <a:ext cx="12039101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Thankyou...</a:t>
            </a:r>
          </a:p>
        </p:txBody>
      </p:sp>
      <p:grpSp>
        <p:nvGrpSpPr>
          <p:cNvPr name="Group 6" id="6"/>
          <p:cNvGrpSpPr/>
          <p:nvPr/>
        </p:nvGrpSpPr>
        <p:grpSpPr>
          <a:xfrm rot="-1396855">
            <a:off x="-1172537" y="7417796"/>
            <a:ext cx="3329143" cy="332914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23042" y="124802"/>
                  </a:lnTo>
                  <a:lnTo>
                    <a:pt x="693768" y="119032"/>
                  </a:lnTo>
                  <a:lnTo>
                    <a:pt x="687998" y="289758"/>
                  </a:lnTo>
                  <a:lnTo>
                    <a:pt x="812800" y="406400"/>
                  </a:lnTo>
                  <a:lnTo>
                    <a:pt x="687998" y="523042"/>
                  </a:lnTo>
                  <a:lnTo>
                    <a:pt x="693768" y="693768"/>
                  </a:lnTo>
                  <a:lnTo>
                    <a:pt x="523042" y="687998"/>
                  </a:lnTo>
                  <a:lnTo>
                    <a:pt x="406400" y="812800"/>
                  </a:lnTo>
                  <a:lnTo>
                    <a:pt x="289758" y="687998"/>
                  </a:lnTo>
                  <a:lnTo>
                    <a:pt x="119032" y="693768"/>
                  </a:lnTo>
                  <a:lnTo>
                    <a:pt x="124802" y="523042"/>
                  </a:lnTo>
                  <a:lnTo>
                    <a:pt x="0" y="406400"/>
                  </a:lnTo>
                  <a:lnTo>
                    <a:pt x="124802" y="289758"/>
                  </a:lnTo>
                  <a:lnTo>
                    <a:pt x="119032" y="119032"/>
                  </a:lnTo>
                  <a:lnTo>
                    <a:pt x="289758" y="124802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189B9"/>
            </a:solidFill>
            <a:ln w="19050" cap="sq">
              <a:solidFill>
                <a:srgbClr val="000001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27000" y="136525"/>
              <a:ext cx="558800" cy="549275"/>
            </a:xfrm>
            <a:prstGeom prst="rect">
              <a:avLst/>
            </a:prstGeom>
          </p:spPr>
          <p:txBody>
            <a:bodyPr anchor="ctr" rtlCol="false" tIns="24208" lIns="24208" bIns="24208" rIns="24208"/>
            <a:lstStyle/>
            <a:p>
              <a:pPr algn="ctr" marL="0" indent="0" lvl="0">
                <a:lnSpc>
                  <a:spcPts val="831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1456953">
            <a:off x="16180618" y="901910"/>
            <a:ext cx="2834829" cy="3239805"/>
            <a:chOff x="0" y="0"/>
            <a:chExt cx="7112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11200" cy="812800"/>
            </a:xfrm>
            <a:custGeom>
              <a:avLst/>
              <a:gdLst/>
              <a:ahLst/>
              <a:cxnLst/>
              <a:rect r="r" b="b" t="t" l="l"/>
              <a:pathLst>
                <a:path h="812800" w="711200">
                  <a:moveTo>
                    <a:pt x="355600" y="0"/>
                  </a:moveTo>
                  <a:lnTo>
                    <a:pt x="499725" y="159329"/>
                  </a:lnTo>
                  <a:lnTo>
                    <a:pt x="711200" y="203200"/>
                  </a:lnTo>
                  <a:lnTo>
                    <a:pt x="643849" y="406400"/>
                  </a:lnTo>
                  <a:lnTo>
                    <a:pt x="711200" y="609600"/>
                  </a:lnTo>
                  <a:lnTo>
                    <a:pt x="499725" y="653471"/>
                  </a:lnTo>
                  <a:lnTo>
                    <a:pt x="355600" y="812800"/>
                  </a:lnTo>
                  <a:lnTo>
                    <a:pt x="211475" y="653471"/>
                  </a:lnTo>
                  <a:lnTo>
                    <a:pt x="0" y="609600"/>
                  </a:lnTo>
                  <a:lnTo>
                    <a:pt x="67351" y="406400"/>
                  </a:lnTo>
                  <a:lnTo>
                    <a:pt x="0" y="203200"/>
                  </a:lnTo>
                  <a:lnTo>
                    <a:pt x="211475" y="159329"/>
                  </a:lnTo>
                  <a:lnTo>
                    <a:pt x="355600" y="0"/>
                  </a:lnTo>
                  <a:close/>
                </a:path>
              </a:pathLst>
            </a:custGeom>
            <a:solidFill>
              <a:srgbClr val="69BFA5"/>
            </a:solidFill>
            <a:ln w="19050" cap="sq">
              <a:solidFill>
                <a:srgbClr val="000001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88900" y="174625"/>
              <a:ext cx="533400" cy="473075"/>
            </a:xfrm>
            <a:prstGeom prst="rect">
              <a:avLst/>
            </a:prstGeom>
          </p:spPr>
          <p:txBody>
            <a:bodyPr anchor="ctr" rtlCol="false" tIns="24208" lIns="24208" bIns="24208" rIns="24208"/>
            <a:lstStyle/>
            <a:p>
              <a:pPr algn="ctr" marL="0" indent="0" lvl="0">
                <a:lnSpc>
                  <a:spcPts val="831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-1276713">
            <a:off x="804621" y="4801037"/>
            <a:ext cx="797006" cy="684927"/>
            <a:chOff x="0" y="0"/>
            <a:chExt cx="812800" cy="6985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1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114300" y="9525"/>
              <a:ext cx="584200" cy="688975"/>
            </a:xfrm>
            <a:prstGeom prst="rect">
              <a:avLst/>
            </a:prstGeom>
          </p:spPr>
          <p:txBody>
            <a:bodyPr anchor="ctr" rtlCol="false" tIns="27432" lIns="27432" bIns="27432" rIns="27432"/>
            <a:lstStyle/>
            <a:p>
              <a:pPr algn="ctr" marL="0" indent="0" lvl="0">
                <a:lnSpc>
                  <a:spcPts val="831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-2228747">
            <a:off x="3674422" y="8515578"/>
            <a:ext cx="682552" cy="597233"/>
            <a:chOff x="0" y="0"/>
            <a:chExt cx="812800" cy="7112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9520" y="13165"/>
              <a:ext cx="793759" cy="698035"/>
            </a:xfrm>
            <a:custGeom>
              <a:avLst/>
              <a:gdLst/>
              <a:ahLst/>
              <a:cxnLst/>
              <a:rect r="r" b="b" t="t" l="l"/>
              <a:pathLst>
                <a:path h="698035" w="793759">
                  <a:moveTo>
                    <a:pt x="408135" y="6531"/>
                  </a:moveTo>
                  <a:lnTo>
                    <a:pt x="792025" y="678339"/>
                  </a:lnTo>
                  <a:cubicBezTo>
                    <a:pt x="794353" y="682413"/>
                    <a:pt x="794337" y="687419"/>
                    <a:pt x="791981" y="691478"/>
                  </a:cubicBezTo>
                  <a:cubicBezTo>
                    <a:pt x="789626" y="695537"/>
                    <a:pt x="785288" y="698035"/>
                    <a:pt x="780595" y="698035"/>
                  </a:cubicBezTo>
                  <a:lnTo>
                    <a:pt x="13165" y="698035"/>
                  </a:lnTo>
                  <a:cubicBezTo>
                    <a:pt x="8472" y="698035"/>
                    <a:pt x="4134" y="695537"/>
                    <a:pt x="1779" y="691478"/>
                  </a:cubicBezTo>
                  <a:cubicBezTo>
                    <a:pt x="-577" y="687419"/>
                    <a:pt x="-593" y="682413"/>
                    <a:pt x="1735" y="678339"/>
                  </a:cubicBezTo>
                  <a:lnTo>
                    <a:pt x="385625" y="6531"/>
                  </a:lnTo>
                  <a:cubicBezTo>
                    <a:pt x="387933" y="2492"/>
                    <a:pt x="392228" y="0"/>
                    <a:pt x="396880" y="0"/>
                  </a:cubicBezTo>
                  <a:cubicBezTo>
                    <a:pt x="401532" y="0"/>
                    <a:pt x="405827" y="2492"/>
                    <a:pt x="408135" y="6531"/>
                  </a:cubicBezTo>
                  <a:close/>
                </a:path>
              </a:pathLst>
            </a:custGeom>
            <a:solidFill>
              <a:srgbClr val="52A5CD"/>
            </a:solidFill>
            <a:ln w="19050" cap="sq">
              <a:solidFill>
                <a:srgbClr val="000001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127000" y="339725"/>
              <a:ext cx="558800" cy="320675"/>
            </a:xfrm>
            <a:prstGeom prst="rect">
              <a:avLst/>
            </a:prstGeom>
          </p:spPr>
          <p:txBody>
            <a:bodyPr anchor="ctr" rtlCol="false" tIns="24208" lIns="24208" bIns="24208" rIns="24208"/>
            <a:lstStyle/>
            <a:p>
              <a:pPr algn="ctr" marL="0" indent="0" lvl="0">
                <a:lnSpc>
                  <a:spcPts val="831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660254">
            <a:off x="14172958" y="306158"/>
            <a:ext cx="1051829" cy="1051829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189B9"/>
            </a:solidFill>
            <a:ln w="19050" cap="sq">
              <a:solidFill>
                <a:srgbClr val="000001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190500" y="200025"/>
              <a:ext cx="431800" cy="422275"/>
            </a:xfrm>
            <a:prstGeom prst="rect">
              <a:avLst/>
            </a:prstGeom>
          </p:spPr>
          <p:txBody>
            <a:bodyPr anchor="ctr" rtlCol="false" tIns="24208" lIns="24208" bIns="24208" rIns="24208"/>
            <a:lstStyle/>
            <a:p>
              <a:pPr algn="ctr" marL="0" indent="0" lvl="0">
                <a:lnSpc>
                  <a:spcPts val="831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-1276713">
            <a:off x="16990865" y="5264771"/>
            <a:ext cx="797006" cy="684927"/>
            <a:chOff x="0" y="0"/>
            <a:chExt cx="812800" cy="6985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1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114300" y="9525"/>
              <a:ext cx="584200" cy="688975"/>
            </a:xfrm>
            <a:prstGeom prst="rect">
              <a:avLst/>
            </a:prstGeom>
          </p:spPr>
          <p:txBody>
            <a:bodyPr anchor="ctr" rtlCol="false" tIns="27432" lIns="27432" bIns="27432" rIns="27432"/>
            <a:lstStyle/>
            <a:p>
              <a:pPr algn="ctr" marL="0" indent="0" lvl="0">
                <a:lnSpc>
                  <a:spcPts val="831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DAHA2alwZa8</dc:identifier>
  <dcterms:modified xsi:type="dcterms:W3CDTF">2011-08-01T06:04:30Z</dcterms:modified>
  <cp:revision>1</cp:revision>
  <dc:title>Non Text Magic Studio Magic Design for Presentations L&amp;P</dc:title>
</cp:coreProperties>
</file>